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Australia’s national museum of screen culture meets a sovereign, local-first AI. This is a concept demo and an independent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8686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A PROPOSAL · FINE ART MEDIA &amp; RMIT UNIVERSITY</a:t>
            </a:r>
            <a:endParaRPr lang="en-US" sz="1100" dirty="0"/>
          </a:p>
        </p:txBody>
      </p:sp>
      <p:sp>
        <p:nvSpPr>
          <p:cNvPr id="3" name="Text 1"/>
          <p:cNvSpPr/>
          <p:nvPr/>
        </p:nvSpPr>
        <p:spPr>
          <a:xfrm>
            <a:off x="640080" y="1371600"/>
            <a:ext cx="10972800" cy="1554480"/>
          </a:xfrm>
          <a:prstGeom prst="rect">
            <a:avLst/>
          </a:prstGeom>
          <a:noFill/>
          <a:ln/>
        </p:spPr>
        <p:txBody>
          <a:bodyPr wrap="square" lIns="0" tIns="0" rIns="0" bIns="0" rtlCol="0" anchor="ctr"/>
          <a:lstStyle/>
          <a:p>
            <a:pPr algn="l" indent="0" marL="0">
              <a:buNone/>
            </a:pPr>
            <a:r>
              <a:rPr lang="en-US" sz="6600" b="1" dirty="0">
                <a:solidFill>
                  <a:srgbClr val="FFFFFF"/>
                </a:solidFill>
                <a:latin typeface="Arial" pitchFamily="34" charset="0"/>
                <a:ea typeface="Arial" pitchFamily="34" charset="-122"/>
                <a:cs typeface="Arial" pitchFamily="34" charset="-120"/>
              </a:rPr>
              <a:t>ARCHAI × ACMI</a:t>
            </a:r>
            <a:endParaRPr lang="en-US" sz="6600" dirty="0"/>
          </a:p>
        </p:txBody>
      </p:sp>
      <p:sp>
        <p:nvSpPr>
          <p:cNvPr id="4" name="Text 2"/>
          <p:cNvSpPr/>
          <p:nvPr/>
        </p:nvSpPr>
        <p:spPr>
          <a:xfrm>
            <a:off x="640080" y="3200400"/>
            <a:ext cx="9875520" cy="1280160"/>
          </a:xfrm>
          <a:prstGeom prst="rect">
            <a:avLst/>
          </a:prstGeom>
          <a:noFill/>
          <a:ln/>
        </p:spPr>
        <p:txBody>
          <a:bodyPr wrap="square" lIns="0" tIns="0" rIns="0" bIns="0" rtlCol="0" anchor="ctr"/>
          <a:lstStyle/>
          <a:p>
            <a:pPr algn="l" indent="0" marL="0">
              <a:lnSpc>
                <a:spcPct val="115000"/>
              </a:lnSpc>
              <a:buNone/>
            </a:pPr>
            <a:r>
              <a:rPr lang="en-US" sz="2000" dirty="0">
                <a:solidFill>
                  <a:srgbClr val="A9A296"/>
                </a:solidFill>
                <a:latin typeface="Calibri" pitchFamily="34" charset="0"/>
                <a:ea typeface="Calibri" pitchFamily="34" charset="-122"/>
                <a:cs typeface="Calibri" pitchFamily="34" charset="-120"/>
              </a:rPr>
              <a:t>Sovereign AI for the living archive, turning the collection into something people can talk to, while every record stays on hardware ACMI owns.</a:t>
            </a:r>
            <a:endParaRPr lang="en-US" sz="2000" dirty="0"/>
          </a:p>
        </p:txBody>
      </p:sp>
      <p:sp>
        <p:nvSpPr>
          <p:cNvPr id="5" name="Shape 3"/>
          <p:cNvSpPr/>
          <p:nvPr/>
        </p:nvSpPr>
        <p:spPr>
          <a:xfrm>
            <a:off x="640080" y="5532120"/>
            <a:ext cx="10972800" cy="0"/>
          </a:xfrm>
          <a:prstGeom prst="line">
            <a:avLst/>
          </a:prstGeom>
          <a:noFill/>
          <a:ln w="12700">
            <a:solidFill>
              <a:srgbClr val="2E2E2E"/>
            </a:solidFill>
            <a:prstDash val="solid"/>
          </a:ln>
        </p:spPr>
      </p:sp>
      <p:sp>
        <p:nvSpPr>
          <p:cNvPr id="6" name="Text 4"/>
          <p:cNvSpPr/>
          <p:nvPr/>
        </p:nvSpPr>
        <p:spPr>
          <a:xfrm>
            <a:off x="640080" y="5669280"/>
            <a:ext cx="109728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Rob Graham</a:t>
            </a:r>
            <a:pPr algn="l" indent="0" marL="0">
              <a:buNone/>
            </a:pPr>
            <a:r>
              <a:rPr lang="en-US" sz="1200" dirty="0">
                <a:solidFill>
                  <a:srgbClr val="A9A296"/>
                </a:solidFill>
                <a:latin typeface="Courier New" pitchFamily="34" charset="0"/>
                <a:ea typeface="Courier New" pitchFamily="34" charset="-122"/>
                <a:cs typeface="Courier New" pitchFamily="34" charset="-120"/>
              </a:rPr>
              <a:t>   Creative technologist · Founder, Fine Art Media · PhD Researcher, RMIT University</a:t>
            </a:r>
            <a:endParaRPr lang="en-US" sz="1200" dirty="0"/>
          </a:p>
        </p:txBody>
      </p:sp>
      <p:sp>
        <p:nvSpPr>
          <p:cNvPr id="7" name="Text 5"/>
          <p:cNvSpPr/>
          <p:nvPr/>
        </p:nvSpPr>
        <p:spPr>
          <a:xfrm>
            <a:off x="640080" y="6053328"/>
            <a:ext cx="10972800" cy="320040"/>
          </a:xfrm>
          <a:prstGeom prst="rect">
            <a:avLst/>
          </a:prstGeom>
          <a:noFill/>
          <a:ln/>
        </p:spPr>
        <p:txBody>
          <a:bodyPr wrap="square" lIns="0" tIns="0" rIns="0" bIns="0" rtlCol="0" anchor="ctr"/>
          <a:lstStyle/>
          <a:p>
            <a:pPr algn="l" indent="0" marL="0">
              <a:buNone/>
            </a:pPr>
            <a:r>
              <a:rPr lang="en-US" sz="1100" dirty="0">
                <a:solidFill>
                  <a:srgbClr val="D4B16F"/>
                </a:solidFill>
                <a:latin typeface="Courier New" pitchFamily="34" charset="0"/>
                <a:ea typeface="Courier New" pitchFamily="34" charset="-122"/>
                <a:cs typeface="Courier New" pitchFamily="34" charset="-120"/>
              </a:rPr>
              <a:t>rob@fineartmedia.tech   ·   fineartmedia.tech/archai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THE PROBLEM</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Digitised, but still hidden.</a:t>
            </a:r>
            <a:endParaRPr lang="en-US" sz="3400" dirty="0"/>
          </a:p>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And the easy AI takes your collection offshore.</a:t>
            </a:r>
            <a:endParaRPr lang="en-US" sz="3400" dirty="0"/>
          </a:p>
        </p:txBody>
      </p:sp>
      <p:sp>
        <p:nvSpPr>
          <p:cNvPr id="4" name="Shape 2"/>
          <p:cNvSpPr/>
          <p:nvPr/>
        </p:nvSpPr>
        <p:spPr>
          <a:xfrm>
            <a:off x="640080" y="3246120"/>
            <a:ext cx="3429000" cy="2834640"/>
          </a:xfrm>
          <a:prstGeom prst="roundRect">
            <a:avLst>
              <a:gd name="adj" fmla="val 2258"/>
            </a:avLst>
          </a:prstGeom>
          <a:solidFill>
            <a:srgbClr val="191919"/>
          </a:solidFill>
          <a:ln w="9525">
            <a:solidFill>
              <a:srgbClr val="2E2E2E"/>
            </a:solidFill>
            <a:prstDash val="solid"/>
          </a:ln>
        </p:spPr>
      </p:sp>
      <p:sp>
        <p:nvSpPr>
          <p:cNvPr id="5" name="Text 3"/>
          <p:cNvSpPr/>
          <p:nvPr/>
        </p:nvSpPr>
        <p:spPr>
          <a:xfrm>
            <a:off x="868680" y="3429000"/>
            <a:ext cx="914400" cy="457200"/>
          </a:xfrm>
          <a:prstGeom prst="rect">
            <a:avLst/>
          </a:prstGeom>
          <a:noFill/>
          <a:ln/>
        </p:spPr>
        <p:txBody>
          <a:bodyPr wrap="square" lIns="0" tIns="0" rIns="0" bIns="0" rtlCol="0" anchor="ctr"/>
          <a:lstStyle/>
          <a:p>
            <a:pPr indent="0" marL="0">
              <a:buNone/>
            </a:pPr>
            <a:r>
              <a:rPr lang="en-US" sz="1500" dirty="0">
                <a:solidFill>
                  <a:srgbClr val="D4B16F"/>
                </a:solidFill>
                <a:latin typeface="Courier New" pitchFamily="34" charset="0"/>
                <a:ea typeface="Courier New" pitchFamily="34" charset="-122"/>
                <a:cs typeface="Courier New" pitchFamily="34" charset="-120"/>
              </a:rPr>
              <a:t>01</a:t>
            </a:r>
            <a:endParaRPr lang="en-US" sz="1500" dirty="0"/>
          </a:p>
        </p:txBody>
      </p:sp>
      <p:sp>
        <p:nvSpPr>
          <p:cNvPr id="6" name="Text 4"/>
          <p:cNvSpPr/>
          <p:nvPr/>
        </p:nvSpPr>
        <p:spPr>
          <a:xfrm>
            <a:off x="868680" y="3840480"/>
            <a:ext cx="29718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Locked in cataloguing</a:t>
            </a:r>
            <a:endParaRPr lang="en-US" sz="1700" dirty="0"/>
          </a:p>
        </p:txBody>
      </p:sp>
      <p:sp>
        <p:nvSpPr>
          <p:cNvPr id="7" name="Text 5"/>
          <p:cNvSpPr/>
          <p:nvPr/>
        </p:nvSpPr>
        <p:spPr>
          <a:xfrm>
            <a:off x="868680" y="4434840"/>
            <a:ext cx="2999232" cy="1554480"/>
          </a:xfrm>
          <a:prstGeom prst="rect">
            <a:avLst/>
          </a:prstGeom>
          <a:noFill/>
          <a:ln/>
        </p:spPr>
        <p:txBody>
          <a:bodyPr wrap="square" lIns="0" tIns="0" rIns="0" bIns="0" rtlCol="0" anchor="t"/>
          <a:lstStyle/>
          <a:p>
            <a:pPr indent="0" marL="0">
              <a:lnSpc>
                <a:spcPct val="112000"/>
              </a:lnSpc>
              <a:buNone/>
            </a:pPr>
            <a:r>
              <a:rPr lang="en-US" sz="1250" dirty="0">
                <a:solidFill>
                  <a:srgbClr val="A9A296"/>
                </a:solidFill>
                <a:latin typeface="Calibri" pitchFamily="34" charset="0"/>
                <a:ea typeface="Calibri" pitchFamily="34" charset="-122"/>
                <a:cs typeface="Calibri" pitchFamily="34" charset="-120"/>
              </a:rPr>
              <a:t>Millions of records built for documentation, not discovery. Most collections are surfaced in single-digit percentages.</a:t>
            </a:r>
            <a:endParaRPr lang="en-US" sz="1250" dirty="0"/>
          </a:p>
        </p:txBody>
      </p:sp>
      <p:sp>
        <p:nvSpPr>
          <p:cNvPr id="8" name="Shape 6"/>
          <p:cNvSpPr/>
          <p:nvPr/>
        </p:nvSpPr>
        <p:spPr>
          <a:xfrm>
            <a:off x="4343400" y="3246120"/>
            <a:ext cx="3429000" cy="2834640"/>
          </a:xfrm>
          <a:prstGeom prst="roundRect">
            <a:avLst>
              <a:gd name="adj" fmla="val 2258"/>
            </a:avLst>
          </a:prstGeom>
          <a:solidFill>
            <a:srgbClr val="191919"/>
          </a:solidFill>
          <a:ln w="9525">
            <a:solidFill>
              <a:srgbClr val="2E2E2E"/>
            </a:solidFill>
            <a:prstDash val="solid"/>
          </a:ln>
        </p:spPr>
      </p:sp>
      <p:sp>
        <p:nvSpPr>
          <p:cNvPr id="9" name="Text 7"/>
          <p:cNvSpPr/>
          <p:nvPr/>
        </p:nvSpPr>
        <p:spPr>
          <a:xfrm>
            <a:off x="4572000" y="3429000"/>
            <a:ext cx="914400" cy="457200"/>
          </a:xfrm>
          <a:prstGeom prst="rect">
            <a:avLst/>
          </a:prstGeom>
          <a:noFill/>
          <a:ln/>
        </p:spPr>
        <p:txBody>
          <a:bodyPr wrap="square" lIns="0" tIns="0" rIns="0" bIns="0" rtlCol="0" anchor="ctr"/>
          <a:lstStyle/>
          <a:p>
            <a:pPr indent="0" marL="0">
              <a:buNone/>
            </a:pPr>
            <a:r>
              <a:rPr lang="en-US" sz="1500" dirty="0">
                <a:solidFill>
                  <a:srgbClr val="D4B16F"/>
                </a:solidFill>
                <a:latin typeface="Courier New" pitchFamily="34" charset="0"/>
                <a:ea typeface="Courier New" pitchFamily="34" charset="-122"/>
                <a:cs typeface="Courier New" pitchFamily="34" charset="-120"/>
              </a:rPr>
              <a:t>02</a:t>
            </a:r>
            <a:endParaRPr lang="en-US" sz="1500" dirty="0"/>
          </a:p>
        </p:txBody>
      </p:sp>
      <p:sp>
        <p:nvSpPr>
          <p:cNvPr id="10" name="Text 8"/>
          <p:cNvSpPr/>
          <p:nvPr/>
        </p:nvSpPr>
        <p:spPr>
          <a:xfrm>
            <a:off x="4572000" y="3840480"/>
            <a:ext cx="29718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Cloud AI, real cost</a:t>
            </a:r>
            <a:endParaRPr lang="en-US" sz="1700" dirty="0"/>
          </a:p>
        </p:txBody>
      </p:sp>
      <p:sp>
        <p:nvSpPr>
          <p:cNvPr id="11" name="Text 9"/>
          <p:cNvSpPr/>
          <p:nvPr/>
        </p:nvSpPr>
        <p:spPr>
          <a:xfrm>
            <a:off x="4572000" y="4434840"/>
            <a:ext cx="2999232" cy="1554480"/>
          </a:xfrm>
          <a:prstGeom prst="rect">
            <a:avLst/>
          </a:prstGeom>
          <a:noFill/>
          <a:ln/>
        </p:spPr>
        <p:txBody>
          <a:bodyPr wrap="square" lIns="0" tIns="0" rIns="0" bIns="0" rtlCol="0" anchor="t"/>
          <a:lstStyle/>
          <a:p>
            <a:pPr indent="0" marL="0">
              <a:lnSpc>
                <a:spcPct val="112000"/>
              </a:lnSpc>
              <a:buNone/>
            </a:pPr>
            <a:r>
              <a:rPr lang="en-US" sz="1250" dirty="0">
                <a:solidFill>
                  <a:srgbClr val="A9A296"/>
                </a:solidFill>
                <a:latin typeface="Calibri" pitchFamily="34" charset="0"/>
                <a:ea typeface="Calibri" pitchFamily="34" charset="-122"/>
                <a:cs typeface="Calibri" pitchFamily="34" charset="-120"/>
              </a:rPr>
              <a:t>Conversational and semantic AI is on offer everywhere, but it moves your collection data and visitor conversations into jurisdictions and models you don’t control.</a:t>
            </a:r>
            <a:endParaRPr lang="en-US" sz="1250" dirty="0"/>
          </a:p>
        </p:txBody>
      </p:sp>
      <p:sp>
        <p:nvSpPr>
          <p:cNvPr id="12" name="Shape 10"/>
          <p:cNvSpPr/>
          <p:nvPr/>
        </p:nvSpPr>
        <p:spPr>
          <a:xfrm>
            <a:off x="8046720" y="3246120"/>
            <a:ext cx="3429000" cy="2834640"/>
          </a:xfrm>
          <a:prstGeom prst="roundRect">
            <a:avLst>
              <a:gd name="adj" fmla="val 2258"/>
            </a:avLst>
          </a:prstGeom>
          <a:solidFill>
            <a:srgbClr val="191919"/>
          </a:solidFill>
          <a:ln w="9525">
            <a:solidFill>
              <a:srgbClr val="2E2E2E"/>
            </a:solidFill>
            <a:prstDash val="solid"/>
          </a:ln>
        </p:spPr>
      </p:sp>
      <p:sp>
        <p:nvSpPr>
          <p:cNvPr id="13" name="Text 11"/>
          <p:cNvSpPr/>
          <p:nvPr/>
        </p:nvSpPr>
        <p:spPr>
          <a:xfrm>
            <a:off x="8275320" y="3429000"/>
            <a:ext cx="914400" cy="457200"/>
          </a:xfrm>
          <a:prstGeom prst="rect">
            <a:avLst/>
          </a:prstGeom>
          <a:noFill/>
          <a:ln/>
        </p:spPr>
        <p:txBody>
          <a:bodyPr wrap="square" lIns="0" tIns="0" rIns="0" bIns="0" rtlCol="0" anchor="ctr"/>
          <a:lstStyle/>
          <a:p>
            <a:pPr indent="0" marL="0">
              <a:buNone/>
            </a:pPr>
            <a:r>
              <a:rPr lang="en-US" sz="1500" dirty="0">
                <a:solidFill>
                  <a:srgbClr val="D4B16F"/>
                </a:solidFill>
                <a:latin typeface="Courier New" pitchFamily="34" charset="0"/>
                <a:ea typeface="Courier New" pitchFamily="34" charset="-122"/>
                <a:cs typeface="Courier New" pitchFamily="34" charset="-120"/>
              </a:rPr>
              <a:t>03</a:t>
            </a:r>
            <a:endParaRPr lang="en-US" sz="1500" dirty="0"/>
          </a:p>
        </p:txBody>
      </p:sp>
      <p:sp>
        <p:nvSpPr>
          <p:cNvPr id="14" name="Text 12"/>
          <p:cNvSpPr/>
          <p:nvPr/>
        </p:nvSpPr>
        <p:spPr>
          <a:xfrm>
            <a:off x="8275320" y="3840480"/>
            <a:ext cx="29718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Sovereignty = preservation</a:t>
            </a:r>
            <a:endParaRPr lang="en-US" sz="1700" dirty="0"/>
          </a:p>
        </p:txBody>
      </p:sp>
      <p:sp>
        <p:nvSpPr>
          <p:cNvPr id="15" name="Text 13"/>
          <p:cNvSpPr/>
          <p:nvPr/>
        </p:nvSpPr>
        <p:spPr>
          <a:xfrm>
            <a:off x="8275320" y="4434840"/>
            <a:ext cx="2999232" cy="1554480"/>
          </a:xfrm>
          <a:prstGeom prst="rect">
            <a:avLst/>
          </a:prstGeom>
          <a:noFill/>
          <a:ln/>
        </p:spPr>
        <p:txBody>
          <a:bodyPr wrap="square" lIns="0" tIns="0" rIns="0" bIns="0" rtlCol="0" anchor="t"/>
          <a:lstStyle/>
          <a:p>
            <a:pPr indent="0" marL="0">
              <a:lnSpc>
                <a:spcPct val="112000"/>
              </a:lnSpc>
              <a:buNone/>
            </a:pPr>
            <a:r>
              <a:rPr lang="en-US" sz="1250" dirty="0">
                <a:solidFill>
                  <a:srgbClr val="A9A296"/>
                </a:solidFill>
                <a:latin typeface="Calibri" pitchFamily="34" charset="0"/>
                <a:ea typeface="Calibri" pitchFamily="34" charset="-122"/>
                <a:cs typeface="Calibri" pitchFamily="34" charset="-120"/>
              </a:rPr>
              <a:t>An institution that can’t keep independent access to its own interpretive systems has, in a real sense, lost control of its collection.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WHAT ARCHAI IS</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A sovereign semantic layer above your systems.</a:t>
            </a:r>
            <a:endParaRPr lang="en-US" sz="3200" dirty="0"/>
          </a:p>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It reads, never writes, and stays in the building.</a:t>
            </a:r>
            <a:endParaRPr lang="en-US" sz="3200" dirty="0"/>
          </a:p>
        </p:txBody>
      </p:sp>
      <p:sp>
        <p:nvSpPr>
          <p:cNvPr id="4" name="Shape 2"/>
          <p:cNvSpPr/>
          <p:nvPr/>
        </p:nvSpPr>
        <p:spPr>
          <a:xfrm>
            <a:off x="640080" y="3200400"/>
            <a:ext cx="3429000" cy="2880360"/>
          </a:xfrm>
          <a:prstGeom prst="roundRect">
            <a:avLst>
              <a:gd name="adj" fmla="val 2222"/>
            </a:avLst>
          </a:prstGeom>
          <a:solidFill>
            <a:srgbClr val="191919"/>
          </a:solidFill>
          <a:ln w="9525">
            <a:solidFill>
              <a:srgbClr val="2E2E2E"/>
            </a:solidFill>
            <a:prstDash val="solid"/>
          </a:ln>
        </p:spPr>
      </p:sp>
      <p:sp>
        <p:nvSpPr>
          <p:cNvPr id="5" name="Text 3"/>
          <p:cNvSpPr/>
          <p:nvPr/>
        </p:nvSpPr>
        <p:spPr>
          <a:xfrm>
            <a:off x="868680" y="3429000"/>
            <a:ext cx="2971800" cy="548640"/>
          </a:xfrm>
          <a:prstGeom prst="rect">
            <a:avLst/>
          </a:prstGeom>
          <a:noFill/>
          <a:ln/>
        </p:spPr>
        <p:txBody>
          <a:bodyPr wrap="square" lIns="0" tIns="0" rIns="0" bIns="0" rtlCol="0" anchor="ctr"/>
          <a:lstStyle/>
          <a:p>
            <a:pPr indent="0" marL="0">
              <a:buNone/>
            </a:pPr>
            <a:r>
              <a:rPr lang="en-US" sz="1600" b="1" dirty="0">
                <a:solidFill>
                  <a:srgbClr val="D4B16F"/>
                </a:solidFill>
                <a:latin typeface="Arial" pitchFamily="34" charset="0"/>
                <a:ea typeface="Arial" pitchFamily="34" charset="-122"/>
                <a:cs typeface="Arial" pitchFamily="34" charset="-120"/>
              </a:rPr>
              <a:t>Heritage foundation</a:t>
            </a:r>
            <a:endParaRPr lang="en-US" sz="1600" dirty="0"/>
          </a:p>
        </p:txBody>
      </p:sp>
      <p:sp>
        <p:nvSpPr>
          <p:cNvPr id="6" name="Text 4"/>
          <p:cNvSpPr/>
          <p:nvPr/>
        </p:nvSpPr>
        <p:spPr>
          <a:xfrm>
            <a:off x="868680" y="4023360"/>
            <a:ext cx="2999232" cy="1828800"/>
          </a:xfrm>
          <a:prstGeom prst="rect">
            <a:avLst/>
          </a:prstGeom>
          <a:noFill/>
          <a:ln/>
        </p:spPr>
        <p:txBody>
          <a:bodyPr wrap="square" lIns="0" tIns="0" rIns="0" bIns="0" rtlCol="0" anchor="t"/>
          <a:lstStyle/>
          <a:p>
            <a:pPr indent="0" marL="0">
              <a:lnSpc>
                <a:spcPct val="118000"/>
              </a:lnSpc>
              <a:buNone/>
            </a:pPr>
            <a:r>
              <a:rPr lang="en-US" sz="1300" dirty="0">
                <a:solidFill>
                  <a:srgbClr val="FFFFFF"/>
                </a:solidFill>
                <a:latin typeface="Calibri" pitchFamily="34" charset="0"/>
                <a:ea typeface="Calibri" pitchFamily="34" charset="-122"/>
                <a:cs typeface="Calibri" pitchFamily="34" charset="-120"/>
              </a:rPr>
              <a:t>Your CMS / DAMS. Read-only. No AI output ever enters the record. Permanent, authoritative, citable.</a:t>
            </a:r>
            <a:endParaRPr lang="en-US" sz="1300" dirty="0"/>
          </a:p>
        </p:txBody>
      </p:sp>
      <p:sp>
        <p:nvSpPr>
          <p:cNvPr id="7" name="Shape 5"/>
          <p:cNvSpPr/>
          <p:nvPr/>
        </p:nvSpPr>
        <p:spPr>
          <a:xfrm>
            <a:off x="4343400" y="3200400"/>
            <a:ext cx="3429000" cy="2880360"/>
          </a:xfrm>
          <a:prstGeom prst="roundRect">
            <a:avLst>
              <a:gd name="adj" fmla="val 2222"/>
            </a:avLst>
          </a:prstGeom>
          <a:solidFill>
            <a:srgbClr val="191919"/>
          </a:solidFill>
          <a:ln w="9525">
            <a:solidFill>
              <a:srgbClr val="2E2E2E"/>
            </a:solidFill>
            <a:prstDash val="solid"/>
          </a:ln>
        </p:spPr>
      </p:sp>
      <p:sp>
        <p:nvSpPr>
          <p:cNvPr id="8" name="Text 6"/>
          <p:cNvSpPr/>
          <p:nvPr/>
        </p:nvSpPr>
        <p:spPr>
          <a:xfrm>
            <a:off x="4572000" y="3429000"/>
            <a:ext cx="2971800" cy="548640"/>
          </a:xfrm>
          <a:prstGeom prst="rect">
            <a:avLst/>
          </a:prstGeom>
          <a:noFill/>
          <a:ln/>
        </p:spPr>
        <p:txBody>
          <a:bodyPr wrap="square" lIns="0" tIns="0" rIns="0" bIns="0" rtlCol="0" anchor="ctr"/>
          <a:lstStyle/>
          <a:p>
            <a:pPr indent="0" marL="0">
              <a:buNone/>
            </a:pPr>
            <a:r>
              <a:rPr lang="en-US" sz="1600" b="1" dirty="0">
                <a:solidFill>
                  <a:srgbClr val="D4B16F"/>
                </a:solidFill>
                <a:latin typeface="Arial" pitchFamily="34" charset="0"/>
                <a:ea typeface="Arial" pitchFamily="34" charset="-122"/>
                <a:cs typeface="Arial" pitchFamily="34" charset="-120"/>
              </a:rPr>
              <a:t>Derivative processing</a:t>
            </a:r>
            <a:endParaRPr lang="en-US" sz="1600" dirty="0"/>
          </a:p>
        </p:txBody>
      </p:sp>
      <p:sp>
        <p:nvSpPr>
          <p:cNvPr id="9" name="Text 7"/>
          <p:cNvSpPr/>
          <p:nvPr/>
        </p:nvSpPr>
        <p:spPr>
          <a:xfrm>
            <a:off x="4572000" y="4023360"/>
            <a:ext cx="2999232" cy="1828800"/>
          </a:xfrm>
          <a:prstGeom prst="rect">
            <a:avLst/>
          </a:prstGeom>
          <a:noFill/>
          <a:ln/>
        </p:spPr>
        <p:txBody>
          <a:bodyPr wrap="square" lIns="0" tIns="0" rIns="0" bIns="0" rtlCol="0" anchor="t"/>
          <a:lstStyle/>
          <a:p>
            <a:pPr indent="0" marL="0">
              <a:lnSpc>
                <a:spcPct val="118000"/>
              </a:lnSpc>
              <a:buNone/>
            </a:pPr>
            <a:r>
              <a:rPr lang="en-US" sz="1300" dirty="0">
                <a:solidFill>
                  <a:srgbClr val="FFFFFF"/>
                </a:solidFill>
                <a:latin typeface="Calibri" pitchFamily="34" charset="0"/>
                <a:ea typeface="Calibri" pitchFamily="34" charset="-122"/>
                <a:cs typeface="Calibri" pitchFamily="34" charset="-120"/>
              </a:rPr>
              <a:t>Vectors + AI responses. Entirely regenerable, rebuilt from unchanged source when models improve.</a:t>
            </a:r>
            <a:endParaRPr lang="en-US" sz="1300" dirty="0"/>
          </a:p>
        </p:txBody>
      </p:sp>
      <p:sp>
        <p:nvSpPr>
          <p:cNvPr id="10" name="Shape 8"/>
          <p:cNvSpPr/>
          <p:nvPr/>
        </p:nvSpPr>
        <p:spPr>
          <a:xfrm>
            <a:off x="8046720" y="3200400"/>
            <a:ext cx="3429000" cy="2880360"/>
          </a:xfrm>
          <a:prstGeom prst="roundRect">
            <a:avLst>
              <a:gd name="adj" fmla="val 2222"/>
            </a:avLst>
          </a:prstGeom>
          <a:solidFill>
            <a:srgbClr val="191919"/>
          </a:solidFill>
          <a:ln w="9525">
            <a:solidFill>
              <a:srgbClr val="2E2E2E"/>
            </a:solidFill>
            <a:prstDash val="solid"/>
          </a:ln>
        </p:spPr>
      </p:sp>
      <p:sp>
        <p:nvSpPr>
          <p:cNvPr id="11" name="Text 9"/>
          <p:cNvSpPr/>
          <p:nvPr/>
        </p:nvSpPr>
        <p:spPr>
          <a:xfrm>
            <a:off x="8275320" y="3429000"/>
            <a:ext cx="2971800" cy="548640"/>
          </a:xfrm>
          <a:prstGeom prst="rect">
            <a:avLst/>
          </a:prstGeom>
          <a:noFill/>
          <a:ln/>
        </p:spPr>
        <p:txBody>
          <a:bodyPr wrap="square" lIns="0" tIns="0" rIns="0" bIns="0" rtlCol="0" anchor="ctr"/>
          <a:lstStyle/>
          <a:p>
            <a:pPr indent="0" marL="0">
              <a:buNone/>
            </a:pPr>
            <a:r>
              <a:rPr lang="en-US" sz="1600" b="1" dirty="0">
                <a:solidFill>
                  <a:srgbClr val="D4B16F"/>
                </a:solidFill>
                <a:latin typeface="Arial" pitchFamily="34" charset="0"/>
                <a:ea typeface="Arial" pitchFamily="34" charset="-122"/>
                <a:cs typeface="Arial" pitchFamily="34" charset="-120"/>
              </a:rPr>
              <a:t>Editorial</a:t>
            </a:r>
            <a:endParaRPr lang="en-US" sz="1600" dirty="0"/>
          </a:p>
        </p:txBody>
      </p:sp>
      <p:sp>
        <p:nvSpPr>
          <p:cNvPr id="12" name="Text 10"/>
          <p:cNvSpPr/>
          <p:nvPr/>
        </p:nvSpPr>
        <p:spPr>
          <a:xfrm>
            <a:off x="8275320" y="4023360"/>
            <a:ext cx="2999232" cy="1828800"/>
          </a:xfrm>
          <a:prstGeom prst="rect">
            <a:avLst/>
          </a:prstGeom>
          <a:noFill/>
          <a:ln/>
        </p:spPr>
        <p:txBody>
          <a:bodyPr wrap="square" lIns="0" tIns="0" rIns="0" bIns="0" rtlCol="0" anchor="t"/>
          <a:lstStyle/>
          <a:p>
            <a:pPr indent="0" marL="0">
              <a:lnSpc>
                <a:spcPct val="118000"/>
              </a:lnSpc>
              <a:buNone/>
            </a:pPr>
            <a:r>
              <a:rPr lang="en-US" sz="1300" dirty="0">
                <a:solidFill>
                  <a:srgbClr val="FFFFFF"/>
                </a:solidFill>
                <a:latin typeface="Calibri" pitchFamily="34" charset="0"/>
                <a:ea typeface="Calibri" pitchFamily="34" charset="-122"/>
                <a:cs typeface="Calibri" pitchFamily="34" charset="-120"/>
              </a:rPr>
              <a:t>Curator interpretation. Flows one way, archive → visitor. Never writes 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THE CONCEPT DEMO</a:t>
            </a:r>
            <a:endParaRPr lang="en-US" sz="1100" dirty="0"/>
          </a:p>
        </p:txBody>
      </p:sp>
      <p:sp>
        <p:nvSpPr>
          <p:cNvPr id="3" name="Text 1"/>
          <p:cNvSpPr/>
          <p:nvPr/>
        </p:nvSpPr>
        <p:spPr>
          <a:xfrm>
            <a:off x="640080" y="1005840"/>
            <a:ext cx="6400800" cy="1371600"/>
          </a:xfrm>
          <a:prstGeom prst="rect">
            <a:avLst/>
          </a:prstGeom>
          <a:noFill/>
          <a:ln/>
        </p:spPr>
        <p:txBody>
          <a:bodyPr wrap="square" lIns="0" tIns="0" rIns="0" bIns="0" rtlCol="0" anchor="t"/>
          <a:lstStyle/>
          <a:p>
            <a:pPr algn="l" indent="0" marL="0">
              <a:lnSpc>
                <a:spcPct val="98000"/>
              </a:lnSpc>
              <a:buNone/>
            </a:pPr>
            <a:r>
              <a:rPr lang="en-US" sz="5200" b="1" dirty="0">
                <a:solidFill>
                  <a:srgbClr val="FFFFFF"/>
                </a:solidFill>
                <a:latin typeface="Arial" pitchFamily="34" charset="0"/>
                <a:ea typeface="Arial" pitchFamily="34" charset="-122"/>
                <a:cs typeface="Arial" pitchFamily="34" charset="-120"/>
              </a:rPr>
              <a:t>The Object Wall</a:t>
            </a:r>
            <a:endParaRPr lang="en-US" sz="5200" dirty="0"/>
          </a:p>
        </p:txBody>
      </p:sp>
      <p:sp>
        <p:nvSpPr>
          <p:cNvPr id="4" name="Text 2"/>
          <p:cNvSpPr/>
          <p:nvPr/>
        </p:nvSpPr>
        <p:spPr>
          <a:xfrm>
            <a:off x="640080" y="2286000"/>
            <a:ext cx="6126480" cy="1005840"/>
          </a:xfrm>
          <a:prstGeom prst="rect">
            <a:avLst/>
          </a:prstGeom>
          <a:noFill/>
          <a:ln/>
        </p:spPr>
        <p:txBody>
          <a:bodyPr wrap="square" lIns="0" tIns="0" rIns="0" bIns="0" rtlCol="0" anchor="ctr"/>
          <a:lstStyle/>
          <a:p>
            <a:pPr indent="0" marL="0">
              <a:lnSpc>
                <a:spcPct val="115000"/>
              </a:lnSpc>
              <a:buNone/>
            </a:pPr>
            <a:r>
              <a:rPr lang="en-US" sz="1700" dirty="0">
                <a:solidFill>
                  <a:srgbClr val="A9A296"/>
                </a:solidFill>
                <a:latin typeface="Calibri" pitchFamily="34" charset="0"/>
                <a:ea typeface="Calibri" pitchFamily="34" charset="-122"/>
                <a:cs typeface="Calibri" pitchFamily="34" charset="-120"/>
              </a:rPr>
              <a:t>A wall of moving-image objects, speaking from ACMI’s own records, out loud or by text, in the language you choose.</a:t>
            </a:r>
            <a:endParaRPr lang="en-US" sz="1700" dirty="0"/>
          </a:p>
        </p:txBody>
      </p:sp>
      <p:sp>
        <p:nvSpPr>
          <p:cNvPr id="5" name="Shape 3"/>
          <p:cNvSpPr/>
          <p:nvPr/>
        </p:nvSpPr>
        <p:spPr>
          <a:xfrm>
            <a:off x="640080" y="3456432"/>
            <a:ext cx="201168" cy="201168"/>
          </a:xfrm>
          <a:prstGeom prst="chevron">
            <a:avLst/>
          </a:prstGeom>
          <a:solidFill>
            <a:srgbClr val="D4B16F"/>
          </a:solidFill>
          <a:ln/>
        </p:spPr>
      </p:sp>
      <p:sp>
        <p:nvSpPr>
          <p:cNvPr id="6" name="Text 4"/>
          <p:cNvSpPr/>
          <p:nvPr/>
        </p:nvSpPr>
        <p:spPr>
          <a:xfrm>
            <a:off x="1005840" y="3429000"/>
            <a:ext cx="5760720" cy="4572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Genuine Australian voice + 11 languages, on-device</a:t>
            </a:r>
            <a:endParaRPr lang="en-US" sz="1450" dirty="0"/>
          </a:p>
        </p:txBody>
      </p:sp>
      <p:sp>
        <p:nvSpPr>
          <p:cNvPr id="7" name="Shape 5"/>
          <p:cNvSpPr/>
          <p:nvPr/>
        </p:nvSpPr>
        <p:spPr>
          <a:xfrm>
            <a:off x="640080" y="4023360"/>
            <a:ext cx="201168" cy="201168"/>
          </a:xfrm>
          <a:prstGeom prst="chevron">
            <a:avLst/>
          </a:prstGeom>
          <a:solidFill>
            <a:srgbClr val="D4B16F"/>
          </a:solidFill>
          <a:ln/>
        </p:spPr>
      </p:sp>
      <p:sp>
        <p:nvSpPr>
          <p:cNvPr id="8" name="Text 6"/>
          <p:cNvSpPr/>
          <p:nvPr/>
        </p:nvSpPr>
        <p:spPr>
          <a:xfrm>
            <a:off x="1005840" y="3995928"/>
            <a:ext cx="5760720" cy="4572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Tap any object, it answers in the first person</a:t>
            </a:r>
            <a:endParaRPr lang="en-US" sz="1450" dirty="0"/>
          </a:p>
        </p:txBody>
      </p:sp>
      <p:sp>
        <p:nvSpPr>
          <p:cNvPr id="9" name="Shape 7"/>
          <p:cNvSpPr/>
          <p:nvPr/>
        </p:nvSpPr>
        <p:spPr>
          <a:xfrm>
            <a:off x="640080" y="4590288"/>
            <a:ext cx="201168" cy="201168"/>
          </a:xfrm>
          <a:prstGeom prst="chevron">
            <a:avLst/>
          </a:prstGeom>
          <a:solidFill>
            <a:srgbClr val="D4B16F"/>
          </a:solidFill>
          <a:ln/>
        </p:spPr>
      </p:sp>
      <p:sp>
        <p:nvSpPr>
          <p:cNvPr id="10" name="Text 8"/>
          <p:cNvSpPr/>
          <p:nvPr/>
        </p:nvSpPr>
        <p:spPr>
          <a:xfrm>
            <a:off x="1005840" y="4562856"/>
            <a:ext cx="5760720" cy="4572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Curator / Guide / Education / Technical personas</a:t>
            </a:r>
            <a:endParaRPr lang="en-US" sz="1450" dirty="0"/>
          </a:p>
        </p:txBody>
      </p:sp>
      <p:sp>
        <p:nvSpPr>
          <p:cNvPr id="11" name="Shape 9"/>
          <p:cNvSpPr/>
          <p:nvPr/>
        </p:nvSpPr>
        <p:spPr>
          <a:xfrm>
            <a:off x="640080" y="5157216"/>
            <a:ext cx="201168" cy="201168"/>
          </a:xfrm>
          <a:prstGeom prst="chevron">
            <a:avLst/>
          </a:prstGeom>
          <a:solidFill>
            <a:srgbClr val="D4B16F"/>
          </a:solidFill>
          <a:ln/>
        </p:spPr>
      </p:sp>
      <p:sp>
        <p:nvSpPr>
          <p:cNvPr id="12" name="Text 10"/>
          <p:cNvSpPr/>
          <p:nvPr/>
        </p:nvSpPr>
        <p:spPr>
          <a:xfrm>
            <a:off x="1005840" y="5129784"/>
            <a:ext cx="5760720" cy="4572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Message wall, kept safe by the Saftio safety layer</a:t>
            </a:r>
            <a:endParaRPr lang="en-US" sz="1450" dirty="0"/>
          </a:p>
        </p:txBody>
      </p:sp>
      <p:sp>
        <p:nvSpPr>
          <p:cNvPr id="13" name="Shape 11"/>
          <p:cNvSpPr/>
          <p:nvPr/>
        </p:nvSpPr>
        <p:spPr>
          <a:xfrm>
            <a:off x="8366760" y="2011680"/>
            <a:ext cx="3108960" cy="3931920"/>
          </a:xfrm>
          <a:prstGeom prst="roundRect">
            <a:avLst>
              <a:gd name="adj" fmla="val 2059"/>
            </a:avLst>
          </a:prstGeom>
          <a:solidFill>
            <a:srgbClr val="191919"/>
          </a:solidFill>
          <a:ln w="9525">
            <a:solidFill>
              <a:srgbClr val="2E2E2E"/>
            </a:solidFill>
            <a:prstDash val="solid"/>
          </a:ln>
        </p:spPr>
      </p:sp>
      <p:pic>
        <p:nvPicPr>
          <p:cNvPr id="14" name="Image 0" descr="acmi_qr.png">    </p:cNvPr>
          <p:cNvPicPr>
            <a:picLocks noChangeAspect="1"/>
          </p:cNvPicPr>
          <p:nvPr/>
        </p:nvPicPr>
        <p:blipFill>
          <a:blip r:embed="rId1"/>
          <a:stretch>
            <a:fillRect/>
          </a:stretch>
        </p:blipFill>
        <p:spPr>
          <a:xfrm>
            <a:off x="8869680" y="2377440"/>
            <a:ext cx="2103120" cy="2103120"/>
          </a:xfrm>
          <a:prstGeom prst="rect">
            <a:avLst/>
          </a:prstGeom>
        </p:spPr>
      </p:pic>
      <p:sp>
        <p:nvSpPr>
          <p:cNvPr id="15" name="Text 12"/>
          <p:cNvSpPr/>
          <p:nvPr/>
        </p:nvSpPr>
        <p:spPr>
          <a:xfrm>
            <a:off x="8366760" y="4617720"/>
            <a:ext cx="31089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Scan to try it</a:t>
            </a:r>
            <a:endParaRPr lang="en-US" sz="1500" dirty="0"/>
          </a:p>
        </p:txBody>
      </p:sp>
      <p:sp>
        <p:nvSpPr>
          <p:cNvPr id="16" name="Text 13"/>
          <p:cNvSpPr/>
          <p:nvPr/>
        </p:nvSpPr>
        <p:spPr>
          <a:xfrm>
            <a:off x="8366760" y="5029200"/>
            <a:ext cx="3108960" cy="365760"/>
          </a:xfrm>
          <a:prstGeom prst="rect">
            <a:avLst/>
          </a:prstGeom>
          <a:noFill/>
          <a:ln/>
        </p:spPr>
        <p:txBody>
          <a:bodyPr wrap="square" lIns="0" tIns="0" rIns="0" bIns="0" rtlCol="0" anchor="ctr"/>
          <a:lstStyle/>
          <a:p>
            <a:pPr algn="ctr" indent="0" marL="0">
              <a:buNone/>
            </a:pPr>
            <a:r>
              <a:rPr lang="en-US" sz="1200" dirty="0">
                <a:solidFill>
                  <a:srgbClr val="D4B16F"/>
                </a:solidFill>
                <a:latin typeface="Courier New" pitchFamily="34" charset="0"/>
                <a:ea typeface="Courier New" pitchFamily="34" charset="-122"/>
                <a:cs typeface="Courier New" pitchFamily="34" charset="-120"/>
              </a:rPr>
              <a:t>fineartmedia.tech/acmi</a:t>
            </a:r>
            <a:endParaRPr lang="en-US" sz="1200" dirty="0"/>
          </a:p>
        </p:txBody>
      </p:sp>
      <p:sp>
        <p:nvSpPr>
          <p:cNvPr id="17" name="Text 14"/>
          <p:cNvSpPr/>
          <p:nvPr/>
        </p:nvSpPr>
        <p:spPr>
          <a:xfrm>
            <a:off x="8366760" y="5440680"/>
            <a:ext cx="3108960" cy="320040"/>
          </a:xfrm>
          <a:prstGeom prst="rect">
            <a:avLst/>
          </a:prstGeom>
          <a:noFill/>
          <a:ln/>
        </p:spPr>
        <p:txBody>
          <a:bodyPr wrap="square" lIns="0" tIns="0" rIns="0" bIns="0" rtlCol="0" anchor="ctr"/>
          <a:lstStyle/>
          <a:p>
            <a:pPr algn="ctr" indent="0" marL="0">
              <a:buNone/>
            </a:pPr>
            <a:r>
              <a:rPr lang="en-US" sz="1000" dirty="0">
                <a:solidFill>
                  <a:srgbClr val="A9A296"/>
                </a:solidFill>
                <a:latin typeface="Courier New" pitchFamily="34" charset="0"/>
                <a:ea typeface="Courier New" pitchFamily="34" charset="-122"/>
                <a:cs typeface="Courier New" pitchFamily="34" charset="-120"/>
              </a:rPr>
              <a:t>Best on a phone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A LIVING LABEL · E-PAPER + NFC</a:t>
            </a:r>
            <a:endParaRPr lang="en-US" sz="1100" dirty="0"/>
          </a:p>
        </p:txBody>
      </p:sp>
      <p:sp>
        <p:nvSpPr>
          <p:cNvPr id="3" name="Text 1"/>
          <p:cNvSpPr/>
          <p:nvPr/>
        </p:nvSpPr>
        <p:spPr>
          <a:xfrm>
            <a:off x="640080" y="1051560"/>
            <a:ext cx="6035040" cy="1371600"/>
          </a:xfrm>
          <a:prstGeom prst="rect">
            <a:avLst/>
          </a:prstGeom>
          <a:noFill/>
          <a:ln/>
        </p:spPr>
        <p:txBody>
          <a:bodyPr wrap="square" lIns="0" tIns="0" rIns="0" bIns="0" rtlCol="0" anchor="t"/>
          <a:lstStyle/>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The label itself becomes</a:t>
            </a:r>
            <a:endParaRPr lang="en-US" sz="3400" dirty="0"/>
          </a:p>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conversational.</a:t>
            </a:r>
            <a:endParaRPr lang="en-US" sz="3400" dirty="0"/>
          </a:p>
        </p:txBody>
      </p:sp>
      <p:sp>
        <p:nvSpPr>
          <p:cNvPr id="4" name="Text 2"/>
          <p:cNvSpPr/>
          <p:nvPr/>
        </p:nvSpPr>
        <p:spPr>
          <a:xfrm>
            <a:off x="640080" y="2926080"/>
            <a:ext cx="5852160" cy="36576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Updatable</a:t>
            </a:r>
            <a:endParaRPr lang="en-US" sz="1500" dirty="0"/>
          </a:p>
        </p:txBody>
      </p:sp>
      <p:sp>
        <p:nvSpPr>
          <p:cNvPr id="5" name="Text 3"/>
          <p:cNvSpPr/>
          <p:nvPr/>
        </p:nvSpPr>
        <p:spPr>
          <a:xfrm>
            <a:off x="640080" y="3310128"/>
            <a:ext cx="5943600" cy="658368"/>
          </a:xfrm>
          <a:prstGeom prst="rect">
            <a:avLst/>
          </a:prstGeom>
          <a:noFill/>
          <a:ln/>
        </p:spPr>
        <p:txBody>
          <a:bodyPr wrap="square" lIns="0" tIns="0" rIns="0" bIns="0" rtlCol="0" anchor="t"/>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label redraws from the collection record. A curator edits the CMS; the label on the floor updates, no reprint.</a:t>
            </a:r>
            <a:endParaRPr lang="en-US" sz="1250" dirty="0"/>
          </a:p>
        </p:txBody>
      </p:sp>
      <p:sp>
        <p:nvSpPr>
          <p:cNvPr id="6" name="Text 4"/>
          <p:cNvSpPr/>
          <p:nvPr/>
        </p:nvSpPr>
        <p:spPr>
          <a:xfrm>
            <a:off x="640080" y="3977640"/>
            <a:ext cx="5852160" cy="36576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Conversational</a:t>
            </a:r>
            <a:endParaRPr lang="en-US" sz="1500" dirty="0"/>
          </a:p>
        </p:txBody>
      </p:sp>
      <p:sp>
        <p:nvSpPr>
          <p:cNvPr id="7" name="Text 5"/>
          <p:cNvSpPr/>
          <p:nvPr/>
        </p:nvSpPr>
        <p:spPr>
          <a:xfrm>
            <a:off x="640080" y="4361688"/>
            <a:ext cx="5943600" cy="658368"/>
          </a:xfrm>
          <a:prstGeom prst="rect">
            <a:avLst/>
          </a:prstGeom>
          <a:noFill/>
          <a:ln/>
        </p:spPr>
        <p:txBody>
          <a:bodyPr wrap="square" lIns="0" tIns="0" rIns="0" bIns="0" rtlCol="0" anchor="t"/>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Tap (NFC) or scan the QR, and the object answers on the visitor’s own phone, grounded in ACMI’s record.</a:t>
            </a:r>
            <a:endParaRPr lang="en-US" sz="1250" dirty="0"/>
          </a:p>
        </p:txBody>
      </p:sp>
      <p:sp>
        <p:nvSpPr>
          <p:cNvPr id="8" name="Text 6"/>
          <p:cNvSpPr/>
          <p:nvPr/>
        </p:nvSpPr>
        <p:spPr>
          <a:xfrm>
            <a:off x="640080" y="5029200"/>
            <a:ext cx="5852160" cy="36576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Sovereign &amp; low-power</a:t>
            </a:r>
            <a:endParaRPr lang="en-US" sz="1500" dirty="0"/>
          </a:p>
        </p:txBody>
      </p:sp>
      <p:sp>
        <p:nvSpPr>
          <p:cNvPr id="9" name="Text 7"/>
          <p:cNvSpPr/>
          <p:nvPr/>
        </p:nvSpPr>
        <p:spPr>
          <a:xfrm>
            <a:off x="640080" y="5413248"/>
            <a:ext cx="5943600" cy="658368"/>
          </a:xfrm>
          <a:prstGeom prst="rect">
            <a:avLst/>
          </a:prstGeom>
          <a:noFill/>
          <a:ln/>
        </p:spPr>
        <p:txBody>
          <a:bodyPr wrap="square" lIns="0" tIns="0" rIns="0" bIns="0" rtlCol="0" anchor="t"/>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E-paper sips power and stays on. Built on your existing Lens NFC, nothing leaves the building.</a:t>
            </a:r>
            <a:endParaRPr lang="en-US" sz="1250" dirty="0"/>
          </a:p>
        </p:txBody>
      </p:sp>
      <p:pic>
        <p:nvPicPr>
          <p:cNvPr id="10" name="Image 0" descr="epaper.png">    </p:cNvPr>
          <p:cNvPicPr>
            <a:picLocks noChangeAspect="1"/>
          </p:cNvPicPr>
          <p:nvPr/>
        </p:nvPicPr>
        <p:blipFill>
          <a:blip r:embed="rId1"/>
          <a:stretch>
            <a:fillRect/>
          </a:stretch>
        </p:blipFill>
        <p:spPr>
          <a:xfrm>
            <a:off x="6903720" y="1600200"/>
            <a:ext cx="4800600" cy="3209544"/>
          </a:xfrm>
          <a:prstGeom prst="rect">
            <a:avLst/>
          </a:prstGeom>
        </p:spPr>
      </p:pic>
      <p:sp>
        <p:nvSpPr>
          <p:cNvPr id="11" name="Text 8"/>
          <p:cNvSpPr/>
          <p:nvPr/>
        </p:nvSpPr>
        <p:spPr>
          <a:xfrm>
            <a:off x="6903720" y="4937760"/>
            <a:ext cx="4800600" cy="320040"/>
          </a:xfrm>
          <a:prstGeom prst="rect">
            <a:avLst/>
          </a:prstGeom>
          <a:noFill/>
          <a:ln/>
        </p:spPr>
        <p:txBody>
          <a:bodyPr wrap="square" lIns="0" tIns="0" rIns="0" bIns="0" rtlCol="0" anchor="ctr"/>
          <a:lstStyle/>
          <a:p>
            <a:pPr algn="ctr" indent="0" marL="0">
              <a:buNone/>
            </a:pPr>
            <a:r>
              <a:rPr lang="en-US" sz="950" dirty="0">
                <a:solidFill>
                  <a:srgbClr val="A9A296"/>
                </a:solidFill>
                <a:latin typeface="Courier New" pitchFamily="34" charset="0"/>
                <a:ea typeface="Courier New" pitchFamily="34" charset="-122"/>
                <a:cs typeface="Courier New" pitchFamily="34" charset="-120"/>
              </a:rPr>
              <a:t>Concept mockup · ARCHAI interactive e-paper label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THE SOVEREIGN STACK, ALL ON-DEVICE</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No cloud AI. Nothing leaves the building.</a:t>
            </a:r>
            <a:endParaRPr lang="en-US" sz="3400" dirty="0"/>
          </a:p>
        </p:txBody>
      </p:sp>
      <p:sp>
        <p:nvSpPr>
          <p:cNvPr id="4" name="Shape 2"/>
          <p:cNvSpPr/>
          <p:nvPr/>
        </p:nvSpPr>
        <p:spPr>
          <a:xfrm>
            <a:off x="640080" y="2880360"/>
            <a:ext cx="5257800" cy="1417320"/>
          </a:xfrm>
          <a:prstGeom prst="roundRect">
            <a:avLst>
              <a:gd name="adj" fmla="val 4516"/>
            </a:avLst>
          </a:prstGeom>
          <a:solidFill>
            <a:srgbClr val="191919"/>
          </a:solidFill>
          <a:ln w="9525">
            <a:solidFill>
              <a:srgbClr val="2E2E2E"/>
            </a:solidFill>
            <a:prstDash val="solid"/>
          </a:ln>
        </p:spPr>
      </p:sp>
      <p:sp>
        <p:nvSpPr>
          <p:cNvPr id="5" name="Text 3"/>
          <p:cNvSpPr/>
          <p:nvPr/>
        </p:nvSpPr>
        <p:spPr>
          <a:xfrm>
            <a:off x="914400" y="3081528"/>
            <a:ext cx="4572000" cy="457200"/>
          </a:xfrm>
          <a:prstGeom prst="rect">
            <a:avLst/>
          </a:prstGeom>
          <a:noFill/>
          <a:ln/>
        </p:spPr>
        <p:txBody>
          <a:bodyPr wrap="square" lIns="0" tIns="0" rIns="0" bIns="0" rtlCol="0" anchor="ctr"/>
          <a:lstStyle/>
          <a:p>
            <a:pPr indent="0" marL="0">
              <a:buNone/>
            </a:pPr>
            <a:r>
              <a:rPr lang="en-US" sz="1800" b="1" dirty="0">
                <a:solidFill>
                  <a:srgbClr val="D4B16F"/>
                </a:solidFill>
                <a:latin typeface="Arial" pitchFamily="34" charset="0"/>
                <a:ea typeface="Arial" pitchFamily="34" charset="-122"/>
                <a:cs typeface="Arial" pitchFamily="34" charset="-120"/>
              </a:rPr>
              <a:t>Search</a:t>
            </a:r>
            <a:endParaRPr lang="en-US" sz="1800" dirty="0"/>
          </a:p>
        </p:txBody>
      </p:sp>
      <p:sp>
        <p:nvSpPr>
          <p:cNvPr id="6" name="Text 4"/>
          <p:cNvSpPr/>
          <p:nvPr/>
        </p:nvSpPr>
        <p:spPr>
          <a:xfrm>
            <a:off x="914400" y="3538728"/>
            <a:ext cx="4754880" cy="64008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Qdrant + local embeddings, semantic, rights- and place-aware.</a:t>
            </a:r>
            <a:endParaRPr lang="en-US" sz="1300" dirty="0"/>
          </a:p>
        </p:txBody>
      </p:sp>
      <p:sp>
        <p:nvSpPr>
          <p:cNvPr id="7" name="Shape 5"/>
          <p:cNvSpPr/>
          <p:nvPr/>
        </p:nvSpPr>
        <p:spPr>
          <a:xfrm>
            <a:off x="6172200" y="2880360"/>
            <a:ext cx="5257800" cy="1417320"/>
          </a:xfrm>
          <a:prstGeom prst="roundRect">
            <a:avLst>
              <a:gd name="adj" fmla="val 4516"/>
            </a:avLst>
          </a:prstGeom>
          <a:solidFill>
            <a:srgbClr val="191919"/>
          </a:solidFill>
          <a:ln w="9525">
            <a:solidFill>
              <a:srgbClr val="2E2E2E"/>
            </a:solidFill>
            <a:prstDash val="solid"/>
          </a:ln>
        </p:spPr>
      </p:sp>
      <p:sp>
        <p:nvSpPr>
          <p:cNvPr id="8" name="Text 6"/>
          <p:cNvSpPr/>
          <p:nvPr/>
        </p:nvSpPr>
        <p:spPr>
          <a:xfrm>
            <a:off x="6446520" y="3081528"/>
            <a:ext cx="4572000" cy="457200"/>
          </a:xfrm>
          <a:prstGeom prst="rect">
            <a:avLst/>
          </a:prstGeom>
          <a:noFill/>
          <a:ln/>
        </p:spPr>
        <p:txBody>
          <a:bodyPr wrap="square" lIns="0" tIns="0" rIns="0" bIns="0" rtlCol="0" anchor="ctr"/>
          <a:lstStyle/>
          <a:p>
            <a:pPr indent="0" marL="0">
              <a:buNone/>
            </a:pPr>
            <a:r>
              <a:rPr lang="en-US" sz="1800" b="1" dirty="0">
                <a:solidFill>
                  <a:srgbClr val="D4B16F"/>
                </a:solidFill>
                <a:latin typeface="Arial" pitchFamily="34" charset="0"/>
                <a:ea typeface="Arial" pitchFamily="34" charset="-122"/>
                <a:cs typeface="Arial" pitchFamily="34" charset="-120"/>
              </a:rPr>
              <a:t>Reasoning</a:t>
            </a:r>
            <a:endParaRPr lang="en-US" sz="1800" dirty="0"/>
          </a:p>
        </p:txBody>
      </p:sp>
      <p:sp>
        <p:nvSpPr>
          <p:cNvPr id="9" name="Text 7"/>
          <p:cNvSpPr/>
          <p:nvPr/>
        </p:nvSpPr>
        <p:spPr>
          <a:xfrm>
            <a:off x="6446520" y="3538728"/>
            <a:ext cx="4754880" cy="64008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Local LLM (Qwen) with a five-layer framework that keeps answers to verified fact.</a:t>
            </a:r>
            <a:endParaRPr lang="en-US" sz="1300" dirty="0"/>
          </a:p>
        </p:txBody>
      </p:sp>
      <p:sp>
        <p:nvSpPr>
          <p:cNvPr id="10" name="Shape 8"/>
          <p:cNvSpPr/>
          <p:nvPr/>
        </p:nvSpPr>
        <p:spPr>
          <a:xfrm>
            <a:off x="640080" y="4480560"/>
            <a:ext cx="5257800" cy="1417320"/>
          </a:xfrm>
          <a:prstGeom prst="roundRect">
            <a:avLst>
              <a:gd name="adj" fmla="val 4516"/>
            </a:avLst>
          </a:prstGeom>
          <a:solidFill>
            <a:srgbClr val="191919"/>
          </a:solidFill>
          <a:ln w="9525">
            <a:solidFill>
              <a:srgbClr val="2E2E2E"/>
            </a:solidFill>
            <a:prstDash val="solid"/>
          </a:ln>
        </p:spPr>
      </p:sp>
      <p:sp>
        <p:nvSpPr>
          <p:cNvPr id="11" name="Text 9"/>
          <p:cNvSpPr/>
          <p:nvPr/>
        </p:nvSpPr>
        <p:spPr>
          <a:xfrm>
            <a:off x="914400" y="4681728"/>
            <a:ext cx="4572000" cy="457200"/>
          </a:xfrm>
          <a:prstGeom prst="rect">
            <a:avLst/>
          </a:prstGeom>
          <a:noFill/>
          <a:ln/>
        </p:spPr>
        <p:txBody>
          <a:bodyPr wrap="square" lIns="0" tIns="0" rIns="0" bIns="0" rtlCol="0" anchor="ctr"/>
          <a:lstStyle/>
          <a:p>
            <a:pPr indent="0" marL="0">
              <a:buNone/>
            </a:pPr>
            <a:r>
              <a:rPr lang="en-US" sz="1800" b="1" dirty="0">
                <a:solidFill>
                  <a:srgbClr val="D4B16F"/>
                </a:solidFill>
                <a:latin typeface="Arial" pitchFamily="34" charset="0"/>
                <a:ea typeface="Arial" pitchFamily="34" charset="-122"/>
                <a:cs typeface="Arial" pitchFamily="34" charset="-120"/>
              </a:rPr>
              <a:t>Voice</a:t>
            </a:r>
            <a:endParaRPr lang="en-US" sz="1800" dirty="0"/>
          </a:p>
        </p:txBody>
      </p:sp>
      <p:sp>
        <p:nvSpPr>
          <p:cNvPr id="12" name="Text 10"/>
          <p:cNvSpPr/>
          <p:nvPr/>
        </p:nvSpPr>
        <p:spPr>
          <a:xfrm>
            <a:off x="914400" y="5138928"/>
            <a:ext cx="4754880" cy="64008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Whisper + MeloTTS, speech in and out, multilingual, a genuine Australian voice.</a:t>
            </a:r>
            <a:endParaRPr lang="en-US" sz="1300" dirty="0"/>
          </a:p>
        </p:txBody>
      </p:sp>
      <p:sp>
        <p:nvSpPr>
          <p:cNvPr id="13" name="Shape 11"/>
          <p:cNvSpPr/>
          <p:nvPr/>
        </p:nvSpPr>
        <p:spPr>
          <a:xfrm>
            <a:off x="6172200" y="4480560"/>
            <a:ext cx="5257800" cy="1417320"/>
          </a:xfrm>
          <a:prstGeom prst="roundRect">
            <a:avLst>
              <a:gd name="adj" fmla="val 4516"/>
            </a:avLst>
          </a:prstGeom>
          <a:solidFill>
            <a:srgbClr val="191919"/>
          </a:solidFill>
          <a:ln w="9525">
            <a:solidFill>
              <a:srgbClr val="2E2E2E"/>
            </a:solidFill>
            <a:prstDash val="solid"/>
          </a:ln>
        </p:spPr>
      </p:sp>
      <p:sp>
        <p:nvSpPr>
          <p:cNvPr id="14" name="Text 12"/>
          <p:cNvSpPr/>
          <p:nvPr/>
        </p:nvSpPr>
        <p:spPr>
          <a:xfrm>
            <a:off x="6446520" y="4681728"/>
            <a:ext cx="4572000" cy="457200"/>
          </a:xfrm>
          <a:prstGeom prst="rect">
            <a:avLst/>
          </a:prstGeom>
          <a:noFill/>
          <a:ln/>
        </p:spPr>
        <p:txBody>
          <a:bodyPr wrap="square" lIns="0" tIns="0" rIns="0" bIns="0" rtlCol="0" anchor="ctr"/>
          <a:lstStyle/>
          <a:p>
            <a:pPr indent="0" marL="0">
              <a:buNone/>
            </a:pPr>
            <a:r>
              <a:rPr lang="en-US" sz="1800" b="1" dirty="0">
                <a:solidFill>
                  <a:srgbClr val="D4B16F"/>
                </a:solidFill>
                <a:latin typeface="Arial" pitchFamily="34" charset="0"/>
                <a:ea typeface="Arial" pitchFamily="34" charset="-122"/>
                <a:cs typeface="Arial" pitchFamily="34" charset="-120"/>
              </a:rPr>
              <a:t>Access</a:t>
            </a:r>
            <a:endParaRPr lang="en-US" sz="1800" dirty="0"/>
          </a:p>
        </p:txBody>
      </p:sp>
      <p:sp>
        <p:nvSpPr>
          <p:cNvPr id="15" name="Text 13"/>
          <p:cNvSpPr/>
          <p:nvPr/>
        </p:nvSpPr>
        <p:spPr>
          <a:xfrm>
            <a:off x="6446520" y="5138928"/>
            <a:ext cx="4754880" cy="64008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A CORS-locked tunnel to the local box. The collection stays on-premises.</a:t>
            </a:r>
            <a:endParaRPr lang="en-US" sz="1300" dirty="0"/>
          </a:p>
        </p:txBody>
      </p:sp>
      <p:sp>
        <p:nvSpPr>
          <p:cNvPr id="16" name="Text 14"/>
          <p:cNvSpPr/>
          <p:nvPr/>
        </p:nvSpPr>
        <p:spPr>
          <a:xfrm>
            <a:off x="640080" y="5943600"/>
            <a:ext cx="10881360" cy="320040"/>
          </a:xfrm>
          <a:prstGeom prst="rect">
            <a:avLst/>
          </a:prstGeom>
          <a:noFill/>
          <a:ln/>
        </p:spPr>
        <p:txBody>
          <a:bodyPr wrap="square" lIns="0" tIns="0" rIns="0" bIns="0" rtlCol="0" anchor="ctr"/>
          <a:lstStyle/>
          <a:p>
            <a:pPr algn="l" indent="0" marL="0">
              <a:buNone/>
            </a:pPr>
            <a:r>
              <a:rPr lang="en-US" sz="1300" i="1" dirty="0">
                <a:solidFill>
                  <a:srgbClr val="A9A296"/>
                </a:solidFill>
                <a:latin typeface="Calibri" pitchFamily="34" charset="0"/>
                <a:ea typeface="Calibri" pitchFamily="34" charset="-122"/>
                <a:cs typeface="Calibri" pitchFamily="34" charset="-120"/>
              </a:rPr>
              <a:t>Integrates with your existing interpretation and hardware, including The Lens and its touch-points, rather than duplicating them.</a:t>
            </a:r>
            <a:endParaRPr lang="en-US" sz="1300" dirty="0"/>
          </a:p>
        </p:txBody>
      </p:sp>
      <p:sp>
        <p:nvSpPr>
          <p:cNvPr id="17" name="Text 15"/>
          <p:cNvSpPr/>
          <p:nvPr/>
        </p:nvSpPr>
        <p:spPr>
          <a:xfrm>
            <a:off x="640080" y="6355080"/>
            <a:ext cx="10881360" cy="320040"/>
          </a:xfrm>
          <a:prstGeom prst="rect">
            <a:avLst/>
          </a:prstGeom>
          <a:noFill/>
          <a:ln/>
        </p:spPr>
        <p:txBody>
          <a:bodyPr wrap="square" lIns="0" tIns="0" rIns="0" bIns="0" rtlCol="0" anchor="ctr"/>
          <a:lstStyle/>
          <a:p>
            <a:pPr algn="l" indent="0" marL="0">
              <a:buNone/>
            </a:pPr>
            <a:r>
              <a:rPr lang="en-US" sz="950" dirty="0">
                <a:solidFill>
                  <a:srgbClr val="A9A296"/>
                </a:solidFill>
                <a:latin typeface="Courier New" pitchFamily="34" charset="0"/>
                <a:ea typeface="Courier New" pitchFamily="34" charset="-122"/>
                <a:cs typeface="Courier New" pitchFamily="34" charset="-120"/>
              </a:rPr>
              <a:t>Built and improved with Huggle (a transparent agent-coordination log); secrets held in Keytec, a sovereign API-key wallet.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ETHICS &amp; SAFETY, BUILT IN, NOT BOLTED ON</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Saftio, an on-device safety layer</a:t>
            </a:r>
            <a:endParaRPr lang="en-US" sz="3400" dirty="0"/>
          </a:p>
        </p:txBody>
      </p:sp>
      <p:sp>
        <p:nvSpPr>
          <p:cNvPr id="4" name="Shape 2"/>
          <p:cNvSpPr/>
          <p:nvPr/>
        </p:nvSpPr>
        <p:spPr>
          <a:xfrm>
            <a:off x="640080" y="3063240"/>
            <a:ext cx="2514600" cy="2834640"/>
          </a:xfrm>
          <a:prstGeom prst="roundRect">
            <a:avLst>
              <a:gd name="adj" fmla="val 2545"/>
            </a:avLst>
          </a:prstGeom>
          <a:solidFill>
            <a:srgbClr val="191919"/>
          </a:solidFill>
          <a:ln w="9525">
            <a:solidFill>
              <a:srgbClr val="2E2E2E"/>
            </a:solidFill>
            <a:prstDash val="solid"/>
          </a:ln>
        </p:spPr>
      </p:sp>
      <p:sp>
        <p:nvSpPr>
          <p:cNvPr id="5" name="Text 3"/>
          <p:cNvSpPr/>
          <p:nvPr/>
        </p:nvSpPr>
        <p:spPr>
          <a:xfrm>
            <a:off x="841248" y="3291840"/>
            <a:ext cx="2194560" cy="54864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Crisis</a:t>
            </a:r>
            <a:endParaRPr lang="en-US" sz="1500" dirty="0"/>
          </a:p>
        </p:txBody>
      </p:sp>
      <p:sp>
        <p:nvSpPr>
          <p:cNvPr id="6" name="Text 4"/>
          <p:cNvSpPr/>
          <p:nvPr/>
        </p:nvSpPr>
        <p:spPr>
          <a:xfrm>
            <a:off x="841248" y="3840480"/>
            <a:ext cx="2194560" cy="182880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Routed to real human help, never an AI reply.</a:t>
            </a:r>
            <a:endParaRPr lang="en-US" sz="1300" dirty="0"/>
          </a:p>
        </p:txBody>
      </p:sp>
      <p:sp>
        <p:nvSpPr>
          <p:cNvPr id="7" name="Shape 5"/>
          <p:cNvSpPr/>
          <p:nvPr/>
        </p:nvSpPr>
        <p:spPr>
          <a:xfrm>
            <a:off x="3401568" y="3063240"/>
            <a:ext cx="2514600" cy="2834640"/>
          </a:xfrm>
          <a:prstGeom prst="roundRect">
            <a:avLst>
              <a:gd name="adj" fmla="val 2545"/>
            </a:avLst>
          </a:prstGeom>
          <a:solidFill>
            <a:srgbClr val="191919"/>
          </a:solidFill>
          <a:ln w="9525">
            <a:solidFill>
              <a:srgbClr val="2E2E2E"/>
            </a:solidFill>
            <a:prstDash val="solid"/>
          </a:ln>
        </p:spPr>
      </p:sp>
      <p:sp>
        <p:nvSpPr>
          <p:cNvPr id="8" name="Text 6"/>
          <p:cNvSpPr/>
          <p:nvPr/>
        </p:nvSpPr>
        <p:spPr>
          <a:xfrm>
            <a:off x="3602736" y="3291840"/>
            <a:ext cx="2194560" cy="54864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Hate / threats</a:t>
            </a:r>
            <a:endParaRPr lang="en-US" sz="1500" dirty="0"/>
          </a:p>
        </p:txBody>
      </p:sp>
      <p:sp>
        <p:nvSpPr>
          <p:cNvPr id="9" name="Text 7"/>
          <p:cNvSpPr/>
          <p:nvPr/>
        </p:nvSpPr>
        <p:spPr>
          <a:xfrm>
            <a:off x="3602736" y="3840480"/>
            <a:ext cx="2194560" cy="182880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Held from public view for curatorial review.</a:t>
            </a:r>
            <a:endParaRPr lang="en-US" sz="1300" dirty="0"/>
          </a:p>
        </p:txBody>
      </p:sp>
      <p:sp>
        <p:nvSpPr>
          <p:cNvPr id="10" name="Shape 8"/>
          <p:cNvSpPr/>
          <p:nvPr/>
        </p:nvSpPr>
        <p:spPr>
          <a:xfrm>
            <a:off x="6163056" y="3063240"/>
            <a:ext cx="2514600" cy="2834640"/>
          </a:xfrm>
          <a:prstGeom prst="roundRect">
            <a:avLst>
              <a:gd name="adj" fmla="val 2545"/>
            </a:avLst>
          </a:prstGeom>
          <a:solidFill>
            <a:srgbClr val="191919"/>
          </a:solidFill>
          <a:ln w="9525">
            <a:solidFill>
              <a:srgbClr val="2E2E2E"/>
            </a:solidFill>
            <a:prstDash val="solid"/>
          </a:ln>
        </p:spPr>
      </p:sp>
      <p:sp>
        <p:nvSpPr>
          <p:cNvPr id="11" name="Text 9"/>
          <p:cNvSpPr/>
          <p:nvPr/>
        </p:nvSpPr>
        <p:spPr>
          <a:xfrm>
            <a:off x="6364224" y="3291840"/>
            <a:ext cx="2194560" cy="548640"/>
          </a:xfrm>
          <a:prstGeom prst="rect">
            <a:avLst/>
          </a:prstGeom>
          <a:noFill/>
          <a:ln/>
        </p:spPr>
        <p:txBody>
          <a:bodyPr wrap="square" lIns="0" tIns="0" rIns="0" bIns="0" rtlCol="0" anchor="ctr"/>
          <a:lstStyle/>
          <a:p>
            <a:pPr indent="0" marL="0">
              <a:buNone/>
            </a:pPr>
            <a:r>
              <a:rPr lang="en-US" sz="1500" b="1" dirty="0">
                <a:solidFill>
                  <a:srgbClr val="D4B16F"/>
                </a:solidFill>
                <a:latin typeface="Arial" pitchFamily="34" charset="0"/>
                <a:ea typeface="Arial" pitchFamily="34" charset="-122"/>
                <a:cs typeface="Arial" pitchFamily="34" charset="-120"/>
              </a:rPr>
              <a:t>Cultural</a:t>
            </a:r>
            <a:endParaRPr lang="en-US" sz="1500" dirty="0"/>
          </a:p>
        </p:txBody>
      </p:sp>
      <p:sp>
        <p:nvSpPr>
          <p:cNvPr id="12" name="Text 10"/>
          <p:cNvSpPr/>
          <p:nvPr/>
        </p:nvSpPr>
        <p:spPr>
          <a:xfrm>
            <a:off x="6364224" y="3840480"/>
            <a:ext cx="2194560" cy="182880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Held under your protocols for cultural review.</a:t>
            </a:r>
            <a:endParaRPr lang="en-US" sz="1300" dirty="0"/>
          </a:p>
        </p:txBody>
      </p:sp>
      <p:sp>
        <p:nvSpPr>
          <p:cNvPr id="13" name="Shape 11"/>
          <p:cNvSpPr/>
          <p:nvPr/>
        </p:nvSpPr>
        <p:spPr>
          <a:xfrm>
            <a:off x="8924544" y="3063240"/>
            <a:ext cx="2514600" cy="2834640"/>
          </a:xfrm>
          <a:prstGeom prst="roundRect">
            <a:avLst>
              <a:gd name="adj" fmla="val 2545"/>
            </a:avLst>
          </a:prstGeom>
          <a:solidFill>
            <a:srgbClr val="191919"/>
          </a:solidFill>
          <a:ln w="9525">
            <a:solidFill>
              <a:srgbClr val="2E2E2E"/>
            </a:solidFill>
            <a:prstDash val="solid"/>
          </a:ln>
        </p:spPr>
      </p:sp>
      <p:sp>
        <p:nvSpPr>
          <p:cNvPr id="14" name="Text 12"/>
          <p:cNvSpPr/>
          <p:nvPr/>
        </p:nvSpPr>
        <p:spPr>
          <a:xfrm>
            <a:off x="9125712" y="3291840"/>
            <a:ext cx="2194560" cy="548640"/>
          </a:xfrm>
          <a:prstGeom prst="rect">
            <a:avLst/>
          </a:prstGeom>
          <a:noFill/>
          <a:ln/>
        </p:spPr>
        <p:txBody>
          <a:bodyPr wrap="square" lIns="0" tIns="0" rIns="0" bIns="0" rtlCol="0" anchor="ctr"/>
          <a:lstStyle/>
          <a:p>
            <a:pPr indent="0" marL="0">
              <a:buNone/>
            </a:pPr>
            <a:r>
              <a:rPr lang="en-US" sz="1500" b="1" dirty="0">
                <a:solidFill>
                  <a:srgbClr val="8FE0A6"/>
                </a:solidFill>
                <a:latin typeface="Arial" pitchFamily="34" charset="0"/>
                <a:ea typeface="Arial" pitchFamily="34" charset="-122"/>
                <a:cs typeface="Arial" pitchFamily="34" charset="-120"/>
              </a:rPr>
              <a:t>Verified facts</a:t>
            </a:r>
            <a:endParaRPr lang="en-US" sz="1500" dirty="0"/>
          </a:p>
        </p:txBody>
      </p:sp>
      <p:sp>
        <p:nvSpPr>
          <p:cNvPr id="15" name="Text 13"/>
          <p:cNvSpPr/>
          <p:nvPr/>
        </p:nvSpPr>
        <p:spPr>
          <a:xfrm>
            <a:off x="9125712" y="3840480"/>
            <a:ext cx="2194560" cy="182880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A ★ green star, the fact is added to the object’s record by curators.</a:t>
            </a:r>
            <a:endParaRPr lang="en-US" sz="1300" dirty="0"/>
          </a:p>
        </p:txBody>
      </p:sp>
      <p:sp>
        <p:nvSpPr>
          <p:cNvPr id="16" name="Text 14"/>
          <p:cNvSpPr/>
          <p:nvPr/>
        </p:nvSpPr>
        <p:spPr>
          <a:xfrm>
            <a:off x="640080" y="6080760"/>
            <a:ext cx="10881360" cy="457200"/>
          </a:xfrm>
          <a:prstGeom prst="rect">
            <a:avLst/>
          </a:prstGeom>
          <a:noFill/>
          <a:ln/>
        </p:spPr>
        <p:txBody>
          <a:bodyPr wrap="square" lIns="0" tIns="0" rIns="0" bIns="0" rtlCol="0" anchor="ctr"/>
          <a:lstStyle/>
          <a:p>
            <a:pPr algn="l" indent="0" marL="0">
              <a:buNone/>
            </a:pPr>
            <a:r>
              <a:rPr lang="en-US" sz="1350" i="1" dirty="0">
                <a:solidFill>
                  <a:srgbClr val="A9A296"/>
                </a:solidFill>
                <a:latin typeface="Calibri" pitchFamily="34" charset="0"/>
                <a:ea typeface="Calibri" pitchFamily="34" charset="-122"/>
                <a:cs typeface="Calibri" pitchFamily="34" charset="-120"/>
              </a:rPr>
              <a:t>Visitor contributions become living-archive provenance, community knowledge, verified by curators, feeding the record.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FIRST NATIONS COLLECTIONS &amp; DATA SOVEREIGNTY</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Cultural protocols enforced by the architecture, </a:t>
            </a:r>
            <a:endParaRPr lang="en-US" sz="3200" dirty="0"/>
          </a:p>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not written in a policy beside it.</a:t>
            </a:r>
            <a:endParaRPr lang="en-US" sz="3200" dirty="0"/>
          </a:p>
        </p:txBody>
      </p:sp>
      <p:sp>
        <p:nvSpPr>
          <p:cNvPr id="4" name="Text 2"/>
          <p:cNvSpPr/>
          <p:nvPr/>
        </p:nvSpPr>
        <p:spPr>
          <a:xfrm>
            <a:off x="640080" y="3200400"/>
            <a:ext cx="6766560" cy="2194560"/>
          </a:xfrm>
          <a:prstGeom prst="rect">
            <a:avLst/>
          </a:prstGeom>
          <a:noFill/>
          <a:ln/>
        </p:spPr>
        <p:txBody>
          <a:bodyPr wrap="square" lIns="0" tIns="0" rIns="0" bIns="0" rtlCol="0" anchor="t"/>
          <a:lstStyle/>
          <a:p>
            <a:pPr indent="0" marL="0">
              <a:lnSpc>
                <a:spcPct val="125000"/>
              </a:lnSpc>
              <a:buNone/>
            </a:pPr>
            <a:r>
              <a:rPr lang="en-US" sz="1600" b="1" dirty="0">
                <a:solidFill>
                  <a:srgbClr val="FFFFFF"/>
                </a:solidFill>
                <a:latin typeface="Calibri" pitchFamily="34" charset="0"/>
                <a:ea typeface="Calibri" pitchFamily="34" charset="-122"/>
                <a:cs typeface="Calibri" pitchFamily="34" charset="-120"/>
              </a:rPr>
              <a:t>Community-governed, consent-first. </a:t>
            </a:r>
            <a:pPr indent="0" marL="0">
              <a:lnSpc>
                <a:spcPct val="125000"/>
              </a:lnSpc>
              <a:buNone/>
            </a:pPr>
            <a:r>
              <a:rPr lang="en-US" sz="1600" dirty="0">
                <a:solidFill>
                  <a:srgbClr val="A9A296"/>
                </a:solidFill>
                <a:latin typeface="Calibri" pitchFamily="34" charset="0"/>
                <a:ea typeface="Calibri" pitchFamily="34" charset="-122"/>
                <a:cs typeface="Calibri" pitchFamily="34" charset="-120"/>
              </a:rPr>
              <a:t>Authority to Control sits with communities. ARCHAI can read and enforce Traditional Knowledge (TK) Labels, exclude restricted material at ingest, honour differential access, and never surface what shouldn’t be. Running locally, restricted material never leaves the building.</a:t>
            </a:r>
            <a:endParaRPr lang="en-US" sz="1600" dirty="0"/>
          </a:p>
        </p:txBody>
      </p:sp>
      <p:sp>
        <p:nvSpPr>
          <p:cNvPr id="5" name="Shape 3"/>
          <p:cNvSpPr/>
          <p:nvPr/>
        </p:nvSpPr>
        <p:spPr>
          <a:xfrm>
            <a:off x="7772400" y="3108960"/>
            <a:ext cx="3703320" cy="2926080"/>
          </a:xfrm>
          <a:prstGeom prst="roundRect">
            <a:avLst>
              <a:gd name="adj" fmla="val 2188"/>
            </a:avLst>
          </a:prstGeom>
          <a:solidFill>
            <a:srgbClr val="191919"/>
          </a:solidFill>
          <a:ln w="9525">
            <a:solidFill>
              <a:srgbClr val="2E2E2E"/>
            </a:solidFill>
            <a:prstDash val="solid"/>
          </a:ln>
        </p:spPr>
      </p:sp>
      <p:sp>
        <p:nvSpPr>
          <p:cNvPr id="6" name="Text 4"/>
          <p:cNvSpPr/>
          <p:nvPr/>
        </p:nvSpPr>
        <p:spPr>
          <a:xfrm>
            <a:off x="8001000" y="3337560"/>
            <a:ext cx="3291840" cy="365760"/>
          </a:xfrm>
          <a:prstGeom prst="rect">
            <a:avLst/>
          </a:prstGeom>
          <a:noFill/>
          <a:ln/>
        </p:spPr>
        <p:txBody>
          <a:bodyPr wrap="square" lIns="0" tIns="0" rIns="0" bIns="0" rtlCol="0" anchor="ctr"/>
          <a:lstStyle/>
          <a:p>
            <a:pPr indent="0" marL="0">
              <a:buNone/>
            </a:pPr>
            <a:r>
              <a:rPr lang="en-US" sz="1100" dirty="0">
                <a:solidFill>
                  <a:srgbClr val="D4B16F"/>
                </a:solidFill>
                <a:latin typeface="Courier New" pitchFamily="34" charset="0"/>
                <a:ea typeface="Courier New" pitchFamily="34" charset="-122"/>
                <a:cs typeface="Courier New" pitchFamily="34" charset="-120"/>
              </a:rPr>
              <a:t>Aligned with</a:t>
            </a:r>
            <a:endParaRPr lang="en-US" sz="1100" dirty="0"/>
          </a:p>
        </p:txBody>
      </p:sp>
      <p:sp>
        <p:nvSpPr>
          <p:cNvPr id="7" name="Text 5"/>
          <p:cNvSpPr/>
          <p:nvPr/>
        </p:nvSpPr>
        <p:spPr>
          <a:xfrm>
            <a:off x="8001000" y="3794760"/>
            <a:ext cx="3291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CARE Principles</a:t>
            </a:r>
            <a:endParaRPr lang="en-US" sz="1400" dirty="0"/>
          </a:p>
        </p:txBody>
      </p:sp>
      <p:sp>
        <p:nvSpPr>
          <p:cNvPr id="8" name="Text 6"/>
          <p:cNvSpPr/>
          <p:nvPr/>
        </p:nvSpPr>
        <p:spPr>
          <a:xfrm>
            <a:off x="8001000" y="4297680"/>
            <a:ext cx="3291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Maiam nayri Wingara</a:t>
            </a:r>
            <a:endParaRPr lang="en-US" sz="1400" dirty="0"/>
          </a:p>
        </p:txBody>
      </p:sp>
      <p:sp>
        <p:nvSpPr>
          <p:cNvPr id="9" name="Text 7"/>
          <p:cNvSpPr/>
          <p:nvPr/>
        </p:nvSpPr>
        <p:spPr>
          <a:xfrm>
            <a:off x="8001000" y="4800600"/>
            <a:ext cx="3291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Mukurtu · TK Labels / Local Contexts</a:t>
            </a:r>
            <a:endParaRPr lang="en-US" sz="1400" dirty="0"/>
          </a:p>
        </p:txBody>
      </p:sp>
      <p:sp>
        <p:nvSpPr>
          <p:cNvPr id="10" name="Text 8"/>
          <p:cNvSpPr/>
          <p:nvPr/>
        </p:nvSpPr>
        <p:spPr>
          <a:xfrm>
            <a:off x="8001000" y="5303520"/>
            <a:ext cx="3291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AIATSIS Code</a:t>
            </a:r>
            <a:endParaRPr lang="en-US" sz="1400" dirty="0"/>
          </a:p>
        </p:txBody>
      </p:sp>
      <p:sp>
        <p:nvSpPr>
          <p:cNvPr id="11" name="Text 9"/>
          <p:cNvSpPr/>
          <p:nvPr/>
        </p:nvSpPr>
        <p:spPr>
          <a:xfrm>
            <a:off x="640080" y="6172200"/>
            <a:ext cx="6766560" cy="548640"/>
          </a:xfrm>
          <a:prstGeom prst="rect">
            <a:avLst/>
          </a:prstGeom>
          <a:noFill/>
          <a:ln/>
        </p:spPr>
        <p:txBody>
          <a:bodyPr wrap="square" lIns="0" tIns="0" rIns="0" bIns="0" rtlCol="0" anchor="ctr"/>
          <a:lstStyle/>
          <a:p>
            <a:pPr indent="0" marL="0">
              <a:buNone/>
            </a:pPr>
            <a:r>
              <a:rPr lang="en-US" sz="1300" i="1" dirty="0">
                <a:solidFill>
                  <a:srgbClr val="A9A296"/>
                </a:solidFill>
                <a:latin typeface="Calibri" pitchFamily="34" charset="0"/>
                <a:ea typeface="Calibri" pitchFamily="34" charset="-122"/>
                <a:cs typeface="Calibri" pitchFamily="34" charset="-120"/>
              </a:rPr>
              <a:t>The proposition is not “ingest Indigenous collections.” It is sovereign infrastructure that enforces your protocols, on your terms, on hardware you control.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A PILOT WITH ACMI</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Scoped small, low-risk, </a:t>
            </a:r>
            <a:endParaRPr lang="en-US" sz="3200" dirty="0"/>
          </a:p>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rights and protocols set by your team.</a:t>
            </a:r>
            <a:endParaRPr lang="en-US" sz="3200" dirty="0"/>
          </a:p>
        </p:txBody>
      </p:sp>
      <p:sp>
        <p:nvSpPr>
          <p:cNvPr id="4" name="Shape 2"/>
          <p:cNvSpPr/>
          <p:nvPr/>
        </p:nvSpPr>
        <p:spPr>
          <a:xfrm>
            <a:off x="640080" y="3246120"/>
            <a:ext cx="3429000" cy="2743200"/>
          </a:xfrm>
          <a:prstGeom prst="roundRect">
            <a:avLst>
              <a:gd name="adj" fmla="val 2333"/>
            </a:avLst>
          </a:prstGeom>
          <a:solidFill>
            <a:srgbClr val="191919"/>
          </a:solidFill>
          <a:ln w="9525">
            <a:solidFill>
              <a:srgbClr val="2E2E2E"/>
            </a:solidFill>
            <a:prstDash val="solid"/>
          </a:ln>
        </p:spPr>
      </p:sp>
      <p:sp>
        <p:nvSpPr>
          <p:cNvPr id="5" name="Text 3"/>
          <p:cNvSpPr/>
          <p:nvPr/>
        </p:nvSpPr>
        <p:spPr>
          <a:xfrm>
            <a:off x="868680" y="3474720"/>
            <a:ext cx="2971800" cy="640080"/>
          </a:xfrm>
          <a:prstGeom prst="rect">
            <a:avLst/>
          </a:prstGeom>
          <a:noFill/>
          <a:ln/>
        </p:spPr>
        <p:txBody>
          <a:bodyPr wrap="square" lIns="0" tIns="0" rIns="0" bIns="0" rtlCol="0" anchor="t"/>
          <a:lstStyle/>
          <a:p>
            <a:pPr indent="0" marL="0">
              <a:buNone/>
            </a:pPr>
            <a:r>
              <a:rPr lang="en-US" sz="1600" b="1" dirty="0">
                <a:solidFill>
                  <a:srgbClr val="D4B16F"/>
                </a:solidFill>
                <a:latin typeface="Arial" pitchFamily="34" charset="0"/>
                <a:ea typeface="Arial" pitchFamily="34" charset="-122"/>
                <a:cs typeface="Arial" pitchFamily="34" charset="-120"/>
              </a:rPr>
              <a:t>Your records, your rules</a:t>
            </a:r>
            <a:endParaRPr lang="en-US" sz="1600" dirty="0"/>
          </a:p>
        </p:txBody>
      </p:sp>
      <p:sp>
        <p:nvSpPr>
          <p:cNvPr id="6" name="Text 4"/>
          <p:cNvSpPr/>
          <p:nvPr/>
        </p:nvSpPr>
        <p:spPr>
          <a:xfrm>
            <a:off x="868680" y="4206240"/>
            <a:ext cx="3017520" cy="169164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A bounded set of ACMI-approved records. Rights, terminology, cultural protocols and publication rules all set by you.</a:t>
            </a:r>
            <a:endParaRPr lang="en-US" sz="1300" dirty="0"/>
          </a:p>
        </p:txBody>
      </p:sp>
      <p:sp>
        <p:nvSpPr>
          <p:cNvPr id="7" name="Shape 5"/>
          <p:cNvSpPr/>
          <p:nvPr/>
        </p:nvSpPr>
        <p:spPr>
          <a:xfrm>
            <a:off x="4343400" y="3246120"/>
            <a:ext cx="3429000" cy="2743200"/>
          </a:xfrm>
          <a:prstGeom prst="roundRect">
            <a:avLst>
              <a:gd name="adj" fmla="val 2333"/>
            </a:avLst>
          </a:prstGeom>
          <a:solidFill>
            <a:srgbClr val="191919"/>
          </a:solidFill>
          <a:ln w="9525">
            <a:solidFill>
              <a:srgbClr val="2E2E2E"/>
            </a:solidFill>
            <a:prstDash val="solid"/>
          </a:ln>
        </p:spPr>
      </p:sp>
      <p:sp>
        <p:nvSpPr>
          <p:cNvPr id="8" name="Text 6"/>
          <p:cNvSpPr/>
          <p:nvPr/>
        </p:nvSpPr>
        <p:spPr>
          <a:xfrm>
            <a:off x="4572000" y="3474720"/>
            <a:ext cx="2971800" cy="640080"/>
          </a:xfrm>
          <a:prstGeom prst="rect">
            <a:avLst/>
          </a:prstGeom>
          <a:noFill/>
          <a:ln/>
        </p:spPr>
        <p:txBody>
          <a:bodyPr wrap="square" lIns="0" tIns="0" rIns="0" bIns="0" rtlCol="0" anchor="t"/>
          <a:lstStyle/>
          <a:p>
            <a:pPr indent="0" marL="0">
              <a:buNone/>
            </a:pPr>
            <a:r>
              <a:rPr lang="en-US" sz="1600" b="1" dirty="0">
                <a:solidFill>
                  <a:srgbClr val="D4B16F"/>
                </a:solidFill>
                <a:latin typeface="Arial" pitchFamily="34" charset="0"/>
                <a:ea typeface="Arial" pitchFamily="34" charset="-122"/>
                <a:cs typeface="Arial" pitchFamily="34" charset="-120"/>
              </a:rPr>
              <a:t>Straightforward to connect</a:t>
            </a:r>
            <a:endParaRPr lang="en-US" sz="1600" dirty="0"/>
          </a:p>
        </p:txBody>
      </p:sp>
      <p:sp>
        <p:nvSpPr>
          <p:cNvPr id="9" name="Text 7"/>
          <p:cNvSpPr/>
          <p:nvPr/>
        </p:nvSpPr>
        <p:spPr>
          <a:xfrm>
            <a:off x="4572000" y="4206240"/>
            <a:ext cx="3017520" cy="169164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Reads from ACMI’s open collection API. Three ACMI-record demos already run, the green zoetrope, a praxinoscope strip, Muybridge’s horse.</a:t>
            </a:r>
            <a:endParaRPr lang="en-US" sz="1300" dirty="0"/>
          </a:p>
        </p:txBody>
      </p:sp>
      <p:sp>
        <p:nvSpPr>
          <p:cNvPr id="10" name="Shape 8"/>
          <p:cNvSpPr/>
          <p:nvPr/>
        </p:nvSpPr>
        <p:spPr>
          <a:xfrm>
            <a:off x="8046720" y="3246120"/>
            <a:ext cx="3429000" cy="2743200"/>
          </a:xfrm>
          <a:prstGeom prst="roundRect">
            <a:avLst>
              <a:gd name="adj" fmla="val 2333"/>
            </a:avLst>
          </a:prstGeom>
          <a:solidFill>
            <a:srgbClr val="191919"/>
          </a:solidFill>
          <a:ln w="9525">
            <a:solidFill>
              <a:srgbClr val="2E2E2E"/>
            </a:solidFill>
            <a:prstDash val="solid"/>
          </a:ln>
        </p:spPr>
      </p:sp>
      <p:sp>
        <p:nvSpPr>
          <p:cNvPr id="11" name="Text 9"/>
          <p:cNvSpPr/>
          <p:nvPr/>
        </p:nvSpPr>
        <p:spPr>
          <a:xfrm>
            <a:off x="8275320" y="3474720"/>
            <a:ext cx="2971800" cy="640080"/>
          </a:xfrm>
          <a:prstGeom prst="rect">
            <a:avLst/>
          </a:prstGeom>
          <a:noFill/>
          <a:ln/>
        </p:spPr>
        <p:txBody>
          <a:bodyPr wrap="square" lIns="0" tIns="0" rIns="0" bIns="0" rtlCol="0" anchor="t"/>
          <a:lstStyle/>
          <a:p>
            <a:pPr indent="0" marL="0">
              <a:buNone/>
            </a:pPr>
            <a:r>
              <a:rPr lang="en-US" sz="1600" b="1" dirty="0">
                <a:solidFill>
                  <a:srgbClr val="D4B16F"/>
                </a:solidFill>
                <a:latin typeface="Arial" pitchFamily="34" charset="0"/>
                <a:ea typeface="Arial" pitchFamily="34" charset="-122"/>
                <a:cs typeface="Arial" pitchFamily="34" charset="-120"/>
              </a:rPr>
              <a:t>Owned outright</a:t>
            </a:r>
            <a:endParaRPr lang="en-US" sz="1600" dirty="0"/>
          </a:p>
        </p:txBody>
      </p:sp>
      <p:sp>
        <p:nvSpPr>
          <p:cNvPr id="12" name="Text 10"/>
          <p:cNvSpPr/>
          <p:nvPr/>
        </p:nvSpPr>
        <p:spPr>
          <a:xfrm>
            <a:off x="8275320" y="4206240"/>
            <a:ext cx="3017520" cy="169164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One-time capital, on hardware you keep, not a per-seat cloud subscription.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A RESEARCH AGENDA FOR THE MUSEUM</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200" b="1" dirty="0">
                <a:solidFill>
                  <a:srgbClr val="FFFFFF"/>
                </a:solidFill>
                <a:latin typeface="Arial" pitchFamily="34" charset="0"/>
                <a:ea typeface="Arial" pitchFamily="34" charset="-122"/>
                <a:cs typeface="Arial" pitchFamily="34" charset="-120"/>
              </a:rPr>
              <a:t>Seven Research-through-Design experiments</a:t>
            </a:r>
            <a:endParaRPr lang="en-US" sz="3200" dirty="0"/>
          </a:p>
        </p:txBody>
      </p:sp>
      <p:sp>
        <p:nvSpPr>
          <p:cNvPr id="4" name="Shape 2"/>
          <p:cNvSpPr/>
          <p:nvPr/>
        </p:nvSpPr>
        <p:spPr>
          <a:xfrm>
            <a:off x="640080" y="2514600"/>
            <a:ext cx="5257800" cy="713232"/>
          </a:xfrm>
          <a:prstGeom prst="roundRect">
            <a:avLst>
              <a:gd name="adj" fmla="val 8974"/>
            </a:avLst>
          </a:prstGeom>
          <a:solidFill>
            <a:srgbClr val="191919"/>
          </a:solidFill>
          <a:ln w="9525">
            <a:solidFill>
              <a:srgbClr val="2E2E2E"/>
            </a:solidFill>
            <a:prstDash val="solid"/>
          </a:ln>
        </p:spPr>
      </p:sp>
      <p:sp>
        <p:nvSpPr>
          <p:cNvPr id="5" name="Text 3"/>
          <p:cNvSpPr/>
          <p:nvPr/>
        </p:nvSpPr>
        <p:spPr>
          <a:xfrm>
            <a:off x="896112" y="2642616"/>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1 · Curatorial collection intelligence</a:t>
            </a:r>
            <a:endParaRPr lang="en-US" sz="1450" dirty="0"/>
          </a:p>
        </p:txBody>
      </p:sp>
      <p:sp>
        <p:nvSpPr>
          <p:cNvPr id="6" name="Text 4"/>
          <p:cNvSpPr/>
          <p:nvPr/>
        </p:nvSpPr>
        <p:spPr>
          <a:xfrm>
            <a:off x="4754880" y="2642616"/>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STAFF-FACING</a:t>
            </a:r>
            <a:endParaRPr lang="en-US" sz="850" dirty="0"/>
          </a:p>
        </p:txBody>
      </p:sp>
      <p:sp>
        <p:nvSpPr>
          <p:cNvPr id="7" name="Shape 5"/>
          <p:cNvSpPr/>
          <p:nvPr/>
        </p:nvSpPr>
        <p:spPr>
          <a:xfrm>
            <a:off x="6172200" y="2514600"/>
            <a:ext cx="5257800" cy="713232"/>
          </a:xfrm>
          <a:prstGeom prst="roundRect">
            <a:avLst>
              <a:gd name="adj" fmla="val 8974"/>
            </a:avLst>
          </a:prstGeom>
          <a:solidFill>
            <a:srgbClr val="191919"/>
          </a:solidFill>
          <a:ln w="9525">
            <a:solidFill>
              <a:srgbClr val="2E2E2E"/>
            </a:solidFill>
            <a:prstDash val="solid"/>
          </a:ln>
        </p:spPr>
      </p:sp>
      <p:sp>
        <p:nvSpPr>
          <p:cNvPr id="8" name="Text 6"/>
          <p:cNvSpPr/>
          <p:nvPr/>
        </p:nvSpPr>
        <p:spPr>
          <a:xfrm>
            <a:off x="6428232" y="2642616"/>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2 · Accessibility &amp; multilingual voice</a:t>
            </a:r>
            <a:endParaRPr lang="en-US" sz="1450" dirty="0"/>
          </a:p>
        </p:txBody>
      </p:sp>
      <p:sp>
        <p:nvSpPr>
          <p:cNvPr id="9" name="Text 7"/>
          <p:cNvSpPr/>
          <p:nvPr/>
        </p:nvSpPr>
        <p:spPr>
          <a:xfrm>
            <a:off x="10287000" y="2642616"/>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VISITOR-FACING</a:t>
            </a:r>
            <a:endParaRPr lang="en-US" sz="850" dirty="0"/>
          </a:p>
        </p:txBody>
      </p:sp>
      <p:sp>
        <p:nvSpPr>
          <p:cNvPr id="10" name="Shape 8"/>
          <p:cNvSpPr/>
          <p:nvPr/>
        </p:nvSpPr>
        <p:spPr>
          <a:xfrm>
            <a:off x="640080" y="3355848"/>
            <a:ext cx="5257800" cy="713232"/>
          </a:xfrm>
          <a:prstGeom prst="roundRect">
            <a:avLst>
              <a:gd name="adj" fmla="val 8974"/>
            </a:avLst>
          </a:prstGeom>
          <a:solidFill>
            <a:srgbClr val="191919"/>
          </a:solidFill>
          <a:ln w="9525">
            <a:solidFill>
              <a:srgbClr val="2E2E2E"/>
            </a:solidFill>
            <a:prstDash val="solid"/>
          </a:ln>
        </p:spPr>
      </p:sp>
      <p:sp>
        <p:nvSpPr>
          <p:cNvPr id="11" name="Text 9"/>
          <p:cNvSpPr/>
          <p:nvPr/>
        </p:nvSpPr>
        <p:spPr>
          <a:xfrm>
            <a:off x="896112" y="3483864"/>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3 · Local-LLM evaluation → sovereign appliance</a:t>
            </a:r>
            <a:endParaRPr lang="en-US" sz="1450" dirty="0"/>
          </a:p>
        </p:txBody>
      </p:sp>
      <p:sp>
        <p:nvSpPr>
          <p:cNvPr id="12" name="Text 10"/>
          <p:cNvSpPr/>
          <p:nvPr/>
        </p:nvSpPr>
        <p:spPr>
          <a:xfrm>
            <a:off x="4754880" y="3483864"/>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TECHNICAL</a:t>
            </a:r>
            <a:endParaRPr lang="en-US" sz="850" dirty="0"/>
          </a:p>
        </p:txBody>
      </p:sp>
      <p:sp>
        <p:nvSpPr>
          <p:cNvPr id="13" name="Shape 11"/>
          <p:cNvSpPr/>
          <p:nvPr/>
        </p:nvSpPr>
        <p:spPr>
          <a:xfrm>
            <a:off x="6172200" y="3355848"/>
            <a:ext cx="5257800" cy="713232"/>
          </a:xfrm>
          <a:prstGeom prst="roundRect">
            <a:avLst>
              <a:gd name="adj" fmla="val 8974"/>
            </a:avLst>
          </a:prstGeom>
          <a:solidFill>
            <a:srgbClr val="191919"/>
          </a:solidFill>
          <a:ln w="9525">
            <a:solidFill>
              <a:srgbClr val="2E2E2E"/>
            </a:solidFill>
            <a:prstDash val="solid"/>
          </a:ln>
        </p:spPr>
      </p:sp>
      <p:sp>
        <p:nvSpPr>
          <p:cNvPr id="14" name="Text 12"/>
          <p:cNvSpPr/>
          <p:nvPr/>
        </p:nvSpPr>
        <p:spPr>
          <a:xfrm>
            <a:off x="6428232" y="3483864"/>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4 · E-paper signage + NFC “living labels”</a:t>
            </a:r>
            <a:endParaRPr lang="en-US" sz="1450" dirty="0"/>
          </a:p>
        </p:txBody>
      </p:sp>
      <p:sp>
        <p:nvSpPr>
          <p:cNvPr id="15" name="Text 13"/>
          <p:cNvSpPr/>
          <p:nvPr/>
        </p:nvSpPr>
        <p:spPr>
          <a:xfrm>
            <a:off x="10287000" y="3483864"/>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PHYSICAL</a:t>
            </a:r>
            <a:endParaRPr lang="en-US" sz="850" dirty="0"/>
          </a:p>
        </p:txBody>
      </p:sp>
      <p:sp>
        <p:nvSpPr>
          <p:cNvPr id="16" name="Shape 14"/>
          <p:cNvSpPr/>
          <p:nvPr/>
        </p:nvSpPr>
        <p:spPr>
          <a:xfrm>
            <a:off x="640080" y="4197096"/>
            <a:ext cx="5257800" cy="713232"/>
          </a:xfrm>
          <a:prstGeom prst="roundRect">
            <a:avLst>
              <a:gd name="adj" fmla="val 8974"/>
            </a:avLst>
          </a:prstGeom>
          <a:solidFill>
            <a:srgbClr val="191919"/>
          </a:solidFill>
          <a:ln w="9525">
            <a:solidFill>
              <a:srgbClr val="2E2E2E"/>
            </a:solidFill>
            <a:prstDash val="solid"/>
          </a:ln>
        </p:spPr>
      </p:sp>
      <p:sp>
        <p:nvSpPr>
          <p:cNvPr id="17" name="Text 15"/>
          <p:cNvSpPr/>
          <p:nvPr/>
        </p:nvSpPr>
        <p:spPr>
          <a:xfrm>
            <a:off x="896112" y="4325112"/>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5 · The federated “museum mega brain”</a:t>
            </a:r>
            <a:endParaRPr lang="en-US" sz="1450" dirty="0"/>
          </a:p>
        </p:txBody>
      </p:sp>
      <p:sp>
        <p:nvSpPr>
          <p:cNvPr id="18" name="Text 16"/>
          <p:cNvSpPr/>
          <p:nvPr/>
        </p:nvSpPr>
        <p:spPr>
          <a:xfrm>
            <a:off x="4754880" y="4325112"/>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FLAGSHIP</a:t>
            </a:r>
            <a:endParaRPr lang="en-US" sz="850" dirty="0"/>
          </a:p>
        </p:txBody>
      </p:sp>
      <p:sp>
        <p:nvSpPr>
          <p:cNvPr id="19" name="Shape 17"/>
          <p:cNvSpPr/>
          <p:nvPr/>
        </p:nvSpPr>
        <p:spPr>
          <a:xfrm>
            <a:off x="6172200" y="4197096"/>
            <a:ext cx="5257800" cy="713232"/>
          </a:xfrm>
          <a:prstGeom prst="roundRect">
            <a:avLst>
              <a:gd name="adj" fmla="val 8974"/>
            </a:avLst>
          </a:prstGeom>
          <a:solidFill>
            <a:srgbClr val="191919"/>
          </a:solidFill>
          <a:ln w="9525">
            <a:solidFill>
              <a:srgbClr val="2E2E2E"/>
            </a:solidFill>
            <a:prstDash val="solid"/>
          </a:ln>
        </p:spPr>
      </p:sp>
      <p:sp>
        <p:nvSpPr>
          <p:cNvPr id="20" name="Text 18"/>
          <p:cNvSpPr/>
          <p:nvPr/>
        </p:nvSpPr>
        <p:spPr>
          <a:xfrm>
            <a:off x="6428232" y="4325112"/>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6 · The living archive (community provenance)</a:t>
            </a:r>
            <a:endParaRPr lang="en-US" sz="1450" dirty="0"/>
          </a:p>
        </p:txBody>
      </p:sp>
      <p:sp>
        <p:nvSpPr>
          <p:cNvPr id="21" name="Text 19"/>
          <p:cNvSpPr/>
          <p:nvPr/>
        </p:nvSpPr>
        <p:spPr>
          <a:xfrm>
            <a:off x="10287000" y="4325112"/>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SAFTIO</a:t>
            </a:r>
            <a:endParaRPr lang="en-US" sz="850" dirty="0"/>
          </a:p>
        </p:txBody>
      </p:sp>
      <p:sp>
        <p:nvSpPr>
          <p:cNvPr id="22" name="Shape 20"/>
          <p:cNvSpPr/>
          <p:nvPr/>
        </p:nvSpPr>
        <p:spPr>
          <a:xfrm>
            <a:off x="640080" y="5038344"/>
            <a:ext cx="5257800" cy="713232"/>
          </a:xfrm>
          <a:prstGeom prst="roundRect">
            <a:avLst>
              <a:gd name="adj" fmla="val 8974"/>
            </a:avLst>
          </a:prstGeom>
          <a:solidFill>
            <a:srgbClr val="191919"/>
          </a:solidFill>
          <a:ln w="9525">
            <a:solidFill>
              <a:srgbClr val="2E2E2E"/>
            </a:solidFill>
            <a:prstDash val="solid"/>
          </a:ln>
        </p:spPr>
      </p:sp>
      <p:sp>
        <p:nvSpPr>
          <p:cNvPr id="23" name="Text 21"/>
          <p:cNvSpPr/>
          <p:nvPr/>
        </p:nvSpPr>
        <p:spPr>
          <a:xfrm>
            <a:off x="896112" y="5166360"/>
            <a:ext cx="3931920" cy="45720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7 · Cultural protocols as architecture</a:t>
            </a:r>
            <a:endParaRPr lang="en-US" sz="1450" dirty="0"/>
          </a:p>
        </p:txBody>
      </p:sp>
      <p:sp>
        <p:nvSpPr>
          <p:cNvPr id="24" name="Text 22"/>
          <p:cNvSpPr/>
          <p:nvPr/>
        </p:nvSpPr>
        <p:spPr>
          <a:xfrm>
            <a:off x="4754880" y="5166360"/>
            <a:ext cx="1051560" cy="457200"/>
          </a:xfrm>
          <a:prstGeom prst="rect">
            <a:avLst/>
          </a:prstGeom>
          <a:noFill/>
          <a:ln/>
        </p:spPr>
        <p:txBody>
          <a:bodyPr wrap="square" lIns="0" tIns="0" rIns="0" bIns="0" rtlCol="0" anchor="ctr"/>
          <a:lstStyle/>
          <a:p>
            <a:pPr algn="r" indent="0" marL="0">
              <a:buNone/>
            </a:pPr>
            <a:r>
              <a:rPr lang="en-US" sz="850" dirty="0">
                <a:solidFill>
                  <a:srgbClr val="D4B16F"/>
                </a:solidFill>
                <a:latin typeface="Courier New" pitchFamily="34" charset="0"/>
                <a:ea typeface="Courier New" pitchFamily="34" charset="-122"/>
                <a:cs typeface="Courier New" pitchFamily="34" charset="-120"/>
              </a:rPr>
              <a:t>GOVERNANCE</a:t>
            </a:r>
            <a:endParaRPr lang="en-US" sz="850" dirty="0"/>
          </a:p>
        </p:txBody>
      </p:sp>
      <p:sp>
        <p:nvSpPr>
          <p:cNvPr id="25" name="Text 23"/>
          <p:cNvSpPr/>
          <p:nvPr/>
        </p:nvSpPr>
        <p:spPr>
          <a:xfrm>
            <a:off x="640080" y="6126480"/>
            <a:ext cx="10881360" cy="457200"/>
          </a:xfrm>
          <a:prstGeom prst="rect">
            <a:avLst/>
          </a:prstGeom>
          <a:noFill/>
          <a:ln/>
        </p:spPr>
        <p:txBody>
          <a:bodyPr wrap="square" lIns="0" tIns="0" rIns="0" bIns="0" rtlCol="0" anchor="ctr"/>
          <a:lstStyle/>
          <a:p>
            <a:pPr indent="0" marL="0">
              <a:buNone/>
            </a:pPr>
            <a:r>
              <a:rPr lang="en-US" sz="1350" i="1" dirty="0">
                <a:solidFill>
                  <a:srgbClr val="A9A296"/>
                </a:solidFill>
                <a:latin typeface="Calibri" pitchFamily="34" charset="0"/>
                <a:ea typeface="Calibri" pitchFamily="34" charset="-122"/>
                <a:cs typeface="Calibri" pitchFamily="34" charset="-120"/>
              </a:rPr>
              <a:t>Each maps to the PhD question, runs in a real gallery, and shares its data and findings openly.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64008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WHY NOW</a:t>
            </a:r>
            <a:endParaRPr lang="en-US" sz="1100" dirty="0"/>
          </a:p>
        </p:txBody>
      </p:sp>
      <p:sp>
        <p:nvSpPr>
          <p:cNvPr id="3" name="Text 1"/>
          <p:cNvSpPr/>
          <p:nvPr/>
        </p:nvSpPr>
        <p:spPr>
          <a:xfrm>
            <a:off x="640080" y="1051560"/>
            <a:ext cx="10881360" cy="1371600"/>
          </a:xfrm>
          <a:prstGeom prst="rect">
            <a:avLst/>
          </a:prstGeom>
          <a:noFill/>
          <a:ln/>
        </p:spPr>
        <p:txBody>
          <a:bodyPr wrap="square" lIns="0" tIns="0" rIns="0" bIns="0" rtlCol="0" anchor="t"/>
          <a:lstStyle/>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This extends a live relationship, </a:t>
            </a:r>
            <a:endParaRPr lang="en-US" sz="3400" dirty="0"/>
          </a:p>
          <a:p>
            <a:pPr algn="l" indent="0" marL="0">
              <a:lnSpc>
                <a:spcPct val="98000"/>
              </a:lnSpc>
              <a:buNone/>
            </a:pPr>
            <a:r>
              <a:rPr lang="en-US" sz="3400" b="1" dirty="0">
                <a:solidFill>
                  <a:srgbClr val="FFFFFF"/>
                </a:solidFill>
                <a:latin typeface="Arial" pitchFamily="34" charset="0"/>
                <a:ea typeface="Arial" pitchFamily="34" charset="-122"/>
                <a:cs typeface="Arial" pitchFamily="34" charset="-120"/>
              </a:rPr>
              <a:t>not a cold ask.</a:t>
            </a:r>
            <a:endParaRPr lang="en-US" sz="3400" dirty="0"/>
          </a:p>
        </p:txBody>
      </p:sp>
      <p:sp>
        <p:nvSpPr>
          <p:cNvPr id="4" name="Text 2"/>
          <p:cNvSpPr/>
          <p:nvPr/>
        </p:nvSpPr>
        <p:spPr>
          <a:xfrm>
            <a:off x="640080" y="3063240"/>
            <a:ext cx="10881360" cy="822960"/>
          </a:xfrm>
          <a:prstGeom prst="rect">
            <a:avLst/>
          </a:prstGeom>
          <a:noFill/>
          <a:ln/>
        </p:spPr>
        <p:txBody>
          <a:bodyPr wrap="square" lIns="0" tIns="0" rIns="0" bIns="0" rtlCol="0" anchor="ctr"/>
          <a:lstStyle/>
          <a:p>
            <a:pPr indent="0" marL="0">
              <a:lnSpc>
                <a:spcPct val="120000"/>
              </a:lnSpc>
              <a:buNone/>
            </a:pPr>
            <a:r>
              <a:rPr lang="en-US" sz="1800" b="1" dirty="0">
                <a:solidFill>
                  <a:srgbClr val="FFFFFF"/>
                </a:solidFill>
                <a:latin typeface="Calibri" pitchFamily="34" charset="0"/>
                <a:ea typeface="Calibri" pitchFamily="34" charset="-122"/>
                <a:cs typeface="Calibri" pitchFamily="34" charset="-120"/>
              </a:rPr>
              <a:t>RMIT is already ACMI’s Major University Partner</a:t>
            </a:r>
            <a:pPr indent="0" marL="0">
              <a:lnSpc>
                <a:spcPct val="120000"/>
              </a:lnSpc>
              <a:buNone/>
            </a:pPr>
            <a:r>
              <a:rPr lang="en-US" sz="1800" dirty="0">
                <a:solidFill>
                  <a:srgbClr val="A9A296"/>
                </a:solidFill>
                <a:latin typeface="Calibri" pitchFamily="34" charset="0"/>
                <a:ea typeface="Calibri" pitchFamily="34" charset="-122"/>
                <a:cs typeface="Calibri" pitchFamily="34" charset="-120"/>
              </a:rPr>
              <a:t>, a decade-long relationship, renewed in 2026. ARCHAI extends it into sovereign AI research.</a:t>
            </a:r>
            <a:endParaRPr lang="en-US" sz="1800" dirty="0"/>
          </a:p>
        </p:txBody>
      </p:sp>
      <p:sp>
        <p:nvSpPr>
          <p:cNvPr id="5" name="Shape 3"/>
          <p:cNvSpPr/>
          <p:nvPr/>
        </p:nvSpPr>
        <p:spPr>
          <a:xfrm>
            <a:off x="640080" y="4114800"/>
            <a:ext cx="5257800" cy="822960"/>
          </a:xfrm>
          <a:prstGeom prst="roundRect">
            <a:avLst>
              <a:gd name="adj" fmla="val 7778"/>
            </a:avLst>
          </a:prstGeom>
          <a:solidFill>
            <a:srgbClr val="191919"/>
          </a:solidFill>
          <a:ln w="9525">
            <a:solidFill>
              <a:srgbClr val="2E2E2E"/>
            </a:solidFill>
            <a:prstDash val="solid"/>
          </a:ln>
        </p:spPr>
      </p:sp>
      <p:sp>
        <p:nvSpPr>
          <p:cNvPr id="6" name="Text 4"/>
          <p:cNvSpPr/>
          <p:nvPr/>
        </p:nvSpPr>
        <p:spPr>
          <a:xfrm>
            <a:off x="896112" y="4261104"/>
            <a:ext cx="4800600" cy="548640"/>
          </a:xfrm>
          <a:prstGeom prst="rect">
            <a:avLst/>
          </a:prstGeom>
          <a:noFill/>
          <a:ln/>
        </p:spPr>
        <p:txBody>
          <a:bodyPr wrap="square" lIns="0" tIns="0" rIns="0" bIns="0" rtlCol="0" anchor="ctr"/>
          <a:lstStyle/>
          <a:p>
            <a:pPr indent="0" marL="0">
              <a:lnSpc>
                <a:spcPct val="105000"/>
              </a:lnSpc>
              <a:buNone/>
            </a:pPr>
            <a:r>
              <a:rPr lang="en-US" sz="1350" b="1" dirty="0">
                <a:solidFill>
                  <a:srgbClr val="D4B16F"/>
                </a:solidFill>
                <a:latin typeface="Calibri" pitchFamily="34" charset="0"/>
                <a:ea typeface="Calibri" pitchFamily="34" charset="-122"/>
                <a:cs typeface="Calibri" pitchFamily="34" charset="-120"/>
              </a:rPr>
              <a:t>Scoped pilot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ACMI-approved records; rights &amp; protocols yours.</a:t>
            </a:r>
            <a:endParaRPr lang="en-US" sz="1350" dirty="0"/>
          </a:p>
        </p:txBody>
      </p:sp>
      <p:sp>
        <p:nvSpPr>
          <p:cNvPr id="7" name="Shape 5"/>
          <p:cNvSpPr/>
          <p:nvPr/>
        </p:nvSpPr>
        <p:spPr>
          <a:xfrm>
            <a:off x="6172200" y="4114800"/>
            <a:ext cx="5257800" cy="822960"/>
          </a:xfrm>
          <a:prstGeom prst="roundRect">
            <a:avLst>
              <a:gd name="adj" fmla="val 7778"/>
            </a:avLst>
          </a:prstGeom>
          <a:solidFill>
            <a:srgbClr val="191919"/>
          </a:solidFill>
          <a:ln w="9525">
            <a:solidFill>
              <a:srgbClr val="2E2E2E"/>
            </a:solidFill>
            <a:prstDash val="solid"/>
          </a:ln>
        </p:spPr>
      </p:sp>
      <p:sp>
        <p:nvSpPr>
          <p:cNvPr id="8" name="Text 6"/>
          <p:cNvSpPr/>
          <p:nvPr/>
        </p:nvSpPr>
        <p:spPr>
          <a:xfrm>
            <a:off x="6428232" y="4261104"/>
            <a:ext cx="4800600" cy="548640"/>
          </a:xfrm>
          <a:prstGeom prst="rect">
            <a:avLst/>
          </a:prstGeom>
          <a:noFill/>
          <a:ln/>
        </p:spPr>
        <p:txBody>
          <a:bodyPr wrap="square" lIns="0" tIns="0" rIns="0" bIns="0" rtlCol="0" anchor="ctr"/>
          <a:lstStyle/>
          <a:p>
            <a:pPr indent="0" marL="0">
              <a:lnSpc>
                <a:spcPct val="105000"/>
              </a:lnSpc>
              <a:buNone/>
            </a:pPr>
            <a:r>
              <a:rPr lang="en-US" sz="1350" b="1" dirty="0">
                <a:solidFill>
                  <a:srgbClr val="D4B16F"/>
                </a:solidFill>
                <a:latin typeface="Calibri" pitchFamily="34" charset="0"/>
                <a:ea typeface="Calibri" pitchFamily="34" charset="-122"/>
                <a:cs typeface="Calibri" pitchFamily="34" charset="-120"/>
              </a:rPr>
              <a:t>ARC Linkage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RMIT + ACMI partners; Major-Partner status strengthens the bid.</a:t>
            </a:r>
            <a:endParaRPr lang="en-US" sz="1350" dirty="0"/>
          </a:p>
        </p:txBody>
      </p:sp>
      <p:sp>
        <p:nvSpPr>
          <p:cNvPr id="9" name="Shape 7"/>
          <p:cNvSpPr/>
          <p:nvPr/>
        </p:nvSpPr>
        <p:spPr>
          <a:xfrm>
            <a:off x="640080" y="5074920"/>
            <a:ext cx="5257800" cy="822960"/>
          </a:xfrm>
          <a:prstGeom prst="roundRect">
            <a:avLst>
              <a:gd name="adj" fmla="val 7778"/>
            </a:avLst>
          </a:prstGeom>
          <a:solidFill>
            <a:srgbClr val="191919"/>
          </a:solidFill>
          <a:ln w="9525">
            <a:solidFill>
              <a:srgbClr val="2E2E2E"/>
            </a:solidFill>
            <a:prstDash val="solid"/>
          </a:ln>
        </p:spPr>
      </p:sp>
      <p:sp>
        <p:nvSpPr>
          <p:cNvPr id="10" name="Text 8"/>
          <p:cNvSpPr/>
          <p:nvPr/>
        </p:nvSpPr>
        <p:spPr>
          <a:xfrm>
            <a:off x="896112" y="5221224"/>
            <a:ext cx="4800600" cy="548640"/>
          </a:xfrm>
          <a:prstGeom prst="rect">
            <a:avLst/>
          </a:prstGeom>
          <a:noFill/>
          <a:ln/>
        </p:spPr>
        <p:txBody>
          <a:bodyPr wrap="square" lIns="0" tIns="0" rIns="0" bIns="0" rtlCol="0" anchor="ctr"/>
          <a:lstStyle/>
          <a:p>
            <a:pPr indent="0" marL="0">
              <a:lnSpc>
                <a:spcPct val="105000"/>
              </a:lnSpc>
              <a:buNone/>
            </a:pPr>
            <a:r>
              <a:rPr lang="en-US" sz="1350" b="1" dirty="0">
                <a:solidFill>
                  <a:srgbClr val="D4B16F"/>
                </a:solidFill>
                <a:latin typeface="Calibri" pitchFamily="34" charset="0"/>
                <a:ea typeface="Calibri" pitchFamily="34" charset="-122"/>
                <a:cs typeface="Calibri" pitchFamily="34" charset="-120"/>
              </a:rPr>
              <a:t>Audience Lab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In-gallery prototypes tested with real audiences.</a:t>
            </a:r>
            <a:endParaRPr lang="en-US" sz="1350" dirty="0"/>
          </a:p>
        </p:txBody>
      </p:sp>
      <p:sp>
        <p:nvSpPr>
          <p:cNvPr id="11" name="Shape 9"/>
          <p:cNvSpPr/>
          <p:nvPr/>
        </p:nvSpPr>
        <p:spPr>
          <a:xfrm>
            <a:off x="6172200" y="5074920"/>
            <a:ext cx="5257800" cy="822960"/>
          </a:xfrm>
          <a:prstGeom prst="roundRect">
            <a:avLst>
              <a:gd name="adj" fmla="val 7778"/>
            </a:avLst>
          </a:prstGeom>
          <a:solidFill>
            <a:srgbClr val="191919"/>
          </a:solidFill>
          <a:ln w="9525">
            <a:solidFill>
              <a:srgbClr val="2E2E2E"/>
            </a:solidFill>
            <a:prstDash val="solid"/>
          </a:ln>
        </p:spPr>
      </p:sp>
      <p:sp>
        <p:nvSpPr>
          <p:cNvPr id="12" name="Text 10"/>
          <p:cNvSpPr/>
          <p:nvPr/>
        </p:nvSpPr>
        <p:spPr>
          <a:xfrm>
            <a:off x="6428232" y="5221224"/>
            <a:ext cx="4800600" cy="548640"/>
          </a:xfrm>
          <a:prstGeom prst="rect">
            <a:avLst/>
          </a:prstGeom>
          <a:noFill/>
          <a:ln/>
        </p:spPr>
        <p:txBody>
          <a:bodyPr wrap="square" lIns="0" tIns="0" rIns="0" bIns="0" rtlCol="0" anchor="ctr"/>
          <a:lstStyle/>
          <a:p>
            <a:pPr indent="0" marL="0">
              <a:lnSpc>
                <a:spcPct val="105000"/>
              </a:lnSpc>
              <a:buNone/>
            </a:pPr>
            <a:r>
              <a:rPr lang="en-US" sz="1350" b="1" dirty="0">
                <a:solidFill>
                  <a:srgbClr val="D4B16F"/>
                </a:solidFill>
                <a:latin typeface="Calibri" pitchFamily="34" charset="0"/>
                <a:ea typeface="Calibri" pitchFamily="34" charset="-122"/>
                <a:cs typeface="Calibri" pitchFamily="34" charset="-120"/>
              </a:rPr>
              <a:t>Studies &amp; co-authorship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Visitor studies, shared outputs, student placements.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640080" y="822960"/>
            <a:ext cx="10881360" cy="274320"/>
          </a:xfrm>
          <a:prstGeom prst="rect">
            <a:avLst/>
          </a:prstGeom>
          <a:noFill/>
          <a:ln/>
        </p:spPr>
        <p:txBody>
          <a:bodyPr wrap="square" lIns="0" tIns="0" rIns="0" bIns="0" rtlCol="0" anchor="ctr"/>
          <a:lstStyle/>
          <a:p>
            <a:pPr algn="l" indent="0" marL="0">
              <a:buNone/>
            </a:pPr>
            <a:r>
              <a:rPr lang="en-US" sz="1100" spc="300" kern="0" dirty="0">
                <a:solidFill>
                  <a:srgbClr val="D4B16F"/>
                </a:solidFill>
                <a:latin typeface="Courier New" pitchFamily="34" charset="0"/>
                <a:ea typeface="Courier New" pitchFamily="34" charset="-122"/>
                <a:cs typeface="Courier New" pitchFamily="34" charset="-120"/>
              </a:rPr>
              <a:t>WE COULD EXPLORE</a:t>
            </a:r>
            <a:endParaRPr lang="en-US" sz="1100" dirty="0"/>
          </a:p>
        </p:txBody>
      </p:sp>
      <p:sp>
        <p:nvSpPr>
          <p:cNvPr id="3" name="Text 1"/>
          <p:cNvSpPr/>
          <p:nvPr/>
        </p:nvSpPr>
        <p:spPr>
          <a:xfrm>
            <a:off x="640080" y="1325880"/>
            <a:ext cx="10881360" cy="1371600"/>
          </a:xfrm>
          <a:prstGeom prst="rect">
            <a:avLst/>
          </a:prstGeom>
          <a:noFill/>
          <a:ln/>
        </p:spPr>
        <p:txBody>
          <a:bodyPr wrap="square" lIns="0" tIns="0" rIns="0" bIns="0" rtlCol="0" anchor="t"/>
          <a:lstStyle/>
          <a:p>
            <a:pPr algn="l" indent="0" marL="0">
              <a:lnSpc>
                <a:spcPct val="98000"/>
              </a:lnSpc>
              <a:buNone/>
            </a:pPr>
            <a:r>
              <a:rPr lang="en-US" sz="4000" b="1" dirty="0">
                <a:solidFill>
                  <a:srgbClr val="FFFFFF"/>
                </a:solidFill>
                <a:latin typeface="Arial" pitchFamily="34" charset="0"/>
                <a:ea typeface="Arial" pitchFamily="34" charset="-122"/>
                <a:cs typeface="Arial" pitchFamily="34" charset="-120"/>
              </a:rPr>
              <a:t>A collaboration to shape,</a:t>
            </a:r>
            <a:endParaRPr lang="en-US" sz="4000" dirty="0"/>
          </a:p>
          <a:p>
            <a:pPr algn="l" indent="0" marL="0">
              <a:lnSpc>
                <a:spcPct val="98000"/>
              </a:lnSpc>
              <a:buNone/>
            </a:pPr>
            <a:r>
              <a:rPr lang="en-US" sz="4000" b="1" dirty="0">
                <a:solidFill>
                  <a:srgbClr val="FFFFFF"/>
                </a:solidFill>
                <a:latin typeface="Arial" pitchFamily="34" charset="0"/>
                <a:ea typeface="Arial" pitchFamily="34" charset="-122"/>
                <a:cs typeface="Arial" pitchFamily="34" charset="-120"/>
              </a:rPr>
              <a:t>not a product to install.</a:t>
            </a:r>
            <a:endParaRPr lang="en-US" sz="4000" dirty="0"/>
          </a:p>
        </p:txBody>
      </p:sp>
      <p:sp>
        <p:nvSpPr>
          <p:cNvPr id="4" name="Text 2"/>
          <p:cNvSpPr/>
          <p:nvPr/>
        </p:nvSpPr>
        <p:spPr>
          <a:xfrm>
            <a:off x="640080" y="3383280"/>
            <a:ext cx="365760" cy="457200"/>
          </a:xfrm>
          <a:prstGeom prst="rect">
            <a:avLst/>
          </a:prstGeom>
          <a:noFill/>
          <a:ln/>
        </p:spPr>
        <p:txBody>
          <a:bodyPr wrap="square" lIns="0" tIns="0" rIns="0" bIns="0" rtlCol="0" anchor="ctr"/>
          <a:lstStyle/>
          <a:p>
            <a:pPr indent="0" marL="0">
              <a:buNone/>
            </a:pPr>
            <a:r>
              <a:rPr lang="en-US" sz="1800" b="1" dirty="0">
                <a:solidFill>
                  <a:srgbClr val="D4B16F"/>
                </a:solidFill>
                <a:latin typeface="Courier New" pitchFamily="34" charset="0"/>
                <a:ea typeface="Courier New" pitchFamily="34" charset="-122"/>
                <a:cs typeface="Courier New" pitchFamily="34" charset="-120"/>
              </a:rPr>
              <a:t>?</a:t>
            </a:r>
            <a:endParaRPr lang="en-US" sz="1800" dirty="0"/>
          </a:p>
        </p:txBody>
      </p:sp>
      <p:sp>
        <p:nvSpPr>
          <p:cNvPr id="5" name="Text 3"/>
          <p:cNvSpPr/>
          <p:nvPr/>
        </p:nvSpPr>
        <p:spPr>
          <a:xfrm>
            <a:off x="1097280" y="3401568"/>
            <a:ext cx="10058400" cy="45720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Which collection subset makes the best low-risk pilot?</a:t>
            </a:r>
            <a:endParaRPr lang="en-US" sz="1550" dirty="0"/>
          </a:p>
        </p:txBody>
      </p:sp>
      <p:sp>
        <p:nvSpPr>
          <p:cNvPr id="6" name="Text 4"/>
          <p:cNvSpPr/>
          <p:nvPr/>
        </p:nvSpPr>
        <p:spPr>
          <a:xfrm>
            <a:off x="640080" y="3986784"/>
            <a:ext cx="365760" cy="457200"/>
          </a:xfrm>
          <a:prstGeom prst="rect">
            <a:avLst/>
          </a:prstGeom>
          <a:noFill/>
          <a:ln/>
        </p:spPr>
        <p:txBody>
          <a:bodyPr wrap="square" lIns="0" tIns="0" rIns="0" bIns="0" rtlCol="0" anchor="ctr"/>
          <a:lstStyle/>
          <a:p>
            <a:pPr indent="0" marL="0">
              <a:buNone/>
            </a:pPr>
            <a:r>
              <a:rPr lang="en-US" sz="1800" b="1" dirty="0">
                <a:solidFill>
                  <a:srgbClr val="D4B16F"/>
                </a:solidFill>
                <a:latin typeface="Courier New" pitchFamily="34" charset="0"/>
                <a:ea typeface="Courier New" pitchFamily="34" charset="-122"/>
                <a:cs typeface="Courier New" pitchFamily="34" charset="-120"/>
              </a:rPr>
              <a:t>?</a:t>
            </a:r>
            <a:endParaRPr lang="en-US" sz="1800" dirty="0"/>
          </a:p>
        </p:txBody>
      </p:sp>
      <p:sp>
        <p:nvSpPr>
          <p:cNvPr id="7" name="Text 5"/>
          <p:cNvSpPr/>
          <p:nvPr/>
        </p:nvSpPr>
        <p:spPr>
          <a:xfrm>
            <a:off x="1097280" y="4005072"/>
            <a:ext cx="10058400" cy="45720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Which systems should ARCHAI read from, and what does the API expose?</a:t>
            </a:r>
            <a:endParaRPr lang="en-US" sz="1550" dirty="0"/>
          </a:p>
        </p:txBody>
      </p:sp>
      <p:sp>
        <p:nvSpPr>
          <p:cNvPr id="8" name="Text 6"/>
          <p:cNvSpPr/>
          <p:nvPr/>
        </p:nvSpPr>
        <p:spPr>
          <a:xfrm>
            <a:off x="640080" y="4590288"/>
            <a:ext cx="365760" cy="457200"/>
          </a:xfrm>
          <a:prstGeom prst="rect">
            <a:avLst/>
          </a:prstGeom>
          <a:noFill/>
          <a:ln/>
        </p:spPr>
        <p:txBody>
          <a:bodyPr wrap="square" lIns="0" tIns="0" rIns="0" bIns="0" rtlCol="0" anchor="ctr"/>
          <a:lstStyle/>
          <a:p>
            <a:pPr indent="0" marL="0">
              <a:buNone/>
            </a:pPr>
            <a:r>
              <a:rPr lang="en-US" sz="1800" b="1" dirty="0">
                <a:solidFill>
                  <a:srgbClr val="D4B16F"/>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1097280" y="4608576"/>
            <a:ext cx="10058400" cy="45720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What rights and First Nations governance must be enforceable from day one?</a:t>
            </a:r>
            <a:endParaRPr lang="en-US" sz="1550" dirty="0"/>
          </a:p>
        </p:txBody>
      </p:sp>
      <p:sp>
        <p:nvSpPr>
          <p:cNvPr id="10" name="Text 8"/>
          <p:cNvSpPr/>
          <p:nvPr/>
        </p:nvSpPr>
        <p:spPr>
          <a:xfrm>
            <a:off x="640080" y="5193792"/>
            <a:ext cx="365760" cy="457200"/>
          </a:xfrm>
          <a:prstGeom prst="rect">
            <a:avLst/>
          </a:prstGeom>
          <a:noFill/>
          <a:ln/>
        </p:spPr>
        <p:txBody>
          <a:bodyPr wrap="square" lIns="0" tIns="0" rIns="0" bIns="0" rtlCol="0" anchor="ctr"/>
          <a:lstStyle/>
          <a:p>
            <a:pPr indent="0" marL="0">
              <a:buNone/>
            </a:pPr>
            <a:r>
              <a:rPr lang="en-US" sz="1800" b="1" dirty="0">
                <a:solidFill>
                  <a:srgbClr val="D4B16F"/>
                </a:solidFill>
                <a:latin typeface="Courier New" pitchFamily="34" charset="0"/>
                <a:ea typeface="Courier New" pitchFamily="34" charset="-122"/>
                <a:cs typeface="Courier New" pitchFamily="34" charset="-120"/>
              </a:rPr>
              <a:t>?</a:t>
            </a:r>
            <a:endParaRPr lang="en-US" sz="1800" dirty="0"/>
          </a:p>
        </p:txBody>
      </p:sp>
      <p:sp>
        <p:nvSpPr>
          <p:cNvPr id="11" name="Text 9"/>
          <p:cNvSpPr/>
          <p:nvPr/>
        </p:nvSpPr>
        <p:spPr>
          <a:xfrm>
            <a:off x="1097280" y="5212080"/>
            <a:ext cx="10058400" cy="45720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A light informal pilot, or a formal research partnership / ARC Linkage?</a:t>
            </a:r>
            <a:endParaRPr lang="en-US" sz="1550" dirty="0"/>
          </a:p>
        </p:txBody>
      </p:sp>
      <p:sp>
        <p:nvSpPr>
          <p:cNvPr id="12" name="Shape 10"/>
          <p:cNvSpPr/>
          <p:nvPr/>
        </p:nvSpPr>
        <p:spPr>
          <a:xfrm>
            <a:off x="640080" y="5943600"/>
            <a:ext cx="10972800" cy="0"/>
          </a:xfrm>
          <a:prstGeom prst="line">
            <a:avLst/>
          </a:prstGeom>
          <a:noFill/>
          <a:ln w="12700">
            <a:solidFill>
              <a:srgbClr val="2E2E2E"/>
            </a:solidFill>
            <a:prstDash val="solid"/>
          </a:ln>
        </p:spPr>
      </p:sp>
      <p:sp>
        <p:nvSpPr>
          <p:cNvPr id="13" name="Text 11"/>
          <p:cNvSpPr/>
          <p:nvPr/>
        </p:nvSpPr>
        <p:spPr>
          <a:xfrm>
            <a:off x="640080" y="6126480"/>
            <a:ext cx="10972800" cy="365760"/>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Rob Graham</a:t>
            </a:r>
            <a:pPr indent="0" marL="0">
              <a:buNone/>
            </a:pPr>
            <a:r>
              <a:rPr lang="en-US" sz="1200" dirty="0">
                <a:solidFill>
                  <a:srgbClr val="D4B16F"/>
                </a:solidFill>
                <a:latin typeface="Courier New" pitchFamily="34" charset="0"/>
                <a:ea typeface="Courier New" pitchFamily="34" charset="-122"/>
                <a:cs typeface="Courier New" pitchFamily="34" charset="-120"/>
              </a:rPr>
              <a:t>   rob@fineartmedia.tech   ·   fineartmedia.tech/acmi   ·   github.com/rob-e-graham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ARCHAI × ACMI</dc:title>
  <dc:subject>PptxGenJS Presentation</dc:subject>
  <dc:creator>Rob Graham / Fine Art Media</dc:creator>
  <cp:lastModifiedBy>Rob Graham / Fine Art Media</cp:lastModifiedBy>
  <cp:revision>1</cp:revision>
  <dcterms:created xsi:type="dcterms:W3CDTF">2026-08-18T21:23:55Z</dcterms:created>
  <dcterms:modified xsi:type="dcterms:W3CDTF">2026-08-18T21:23:55Z</dcterms:modified>
</cp:coreProperties>
</file>